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3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78" r:id="rId21"/>
    <p:sldId id="279" r:id="rId22"/>
    <p:sldId id="272" r:id="rId23"/>
    <p:sldId id="280" r:id="rId24"/>
    <p:sldId id="273" r:id="rId25"/>
    <p:sldId id="274" r:id="rId26"/>
    <p:sldId id="281" r:id="rId27"/>
    <p:sldId id="282" r:id="rId28"/>
    <p:sldId id="283" r:id="rId29"/>
    <p:sldId id="284" r:id="rId30"/>
    <p:sldId id="285" r:id="rId31"/>
    <p:sldId id="286" r:id="rId32"/>
    <p:sldId id="289" r:id="rId33"/>
    <p:sldId id="290" r:id="rId34"/>
    <p:sldId id="287" r:id="rId35"/>
    <p:sldId id="288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0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60"/>
  </p:normalViewPr>
  <p:slideViewPr>
    <p:cSldViewPr snapToGrid="0">
      <p:cViewPr varScale="1">
        <p:scale>
          <a:sx n="87" d="100"/>
          <a:sy n="87" d="100"/>
        </p:scale>
        <p:origin x="46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8412-F09A-03E3-CDFA-62D37387B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BBC1D-F0BF-A5E4-A33D-F4928CDD0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925F9-522A-F0CF-B76E-517FD841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41500-1BEB-4C72-CE5F-066C0DD92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82FC6-8ABF-D031-8702-4A521859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292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FACE-EA8A-9A9D-561A-ECC4AE5F7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10BB3-BBB3-C3E9-F6E3-074A674F8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447B7-A2D1-22D2-21F8-598128DF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57499-4077-F99C-ADA1-05262B7E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3D5AB-C606-32B5-2295-3A40DED0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67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AE90-680F-C325-6C53-10FEB4DF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69416-512D-813A-111D-F830CCDF8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CBE7D-8725-38FC-E265-A40350E1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3F91-ECEE-697A-3D89-7AF32503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E7926-46CA-C8AE-EF91-83B5BB5A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68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D1F5-E23C-F3D3-003F-A178A05B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FC4FF-708C-FE79-9A57-FFC4A5CA2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8BC6AA-BC4B-238A-17D6-7EE145FB3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B0A40-EA5E-50A3-2EF4-6508A5C5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E3AE9-F286-6741-6CE4-823A49BE5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7D246-23D8-FFAF-7ED9-4A4E1823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1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59EE-B50C-06CF-94D3-06EEC6E6A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0CF6C-7A1B-31C5-133A-64D1EA15A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05212-ED14-A9F2-B0DF-C052FB4F5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06462-113D-68BD-8CEE-6D20D29AC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DF0C4-C147-4185-A07A-410842352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CFC18-2E5D-7C2B-8BCB-9F72FC6C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553097-E38F-0C4C-12F3-5F350C28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810A6-A7B7-2B61-3DA4-7A193B3D2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780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285F-AFDE-449D-2C93-076B8BA7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0589A-A2C2-583D-17AA-252B062D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7A711-AEEF-DD0B-257C-1B60B7CB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32121-DA03-11E8-210D-49604A2E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99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82F04-9EE8-8A38-B633-8EADED20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6662D-7349-8E2F-4F6D-BAB043FB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B469C-58B3-F0C5-4787-E1FD945A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24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85B1-A8F5-6ABD-2C3A-9CC369867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0775-F370-3206-6BE3-B8F19590D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648B6-7123-A0A3-D5C6-1B4179E4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024A2-9726-1EBA-B2DB-87D2DC40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E9E29-03B3-E7C9-CCE0-428BB8E5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2C99F-7520-A429-6358-64A2E500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69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5D88-6317-BF8A-06C2-3114A78E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FCB2D-18C1-F65A-9726-19A0AD28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8107E-2A08-D195-34AE-609CC951C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EA152-BD5B-C98D-61DF-40A7B494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2C3CC-EE10-A380-5B1D-7A09A115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BBC28-2455-6762-7851-D0EA9AE5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44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2FE8-D858-83C7-6CDE-2BE827D7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AB55E-D753-0D4C-679F-9D57B759C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84ACF-D2F2-AF33-5BE7-E2E9E99E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A63A9-F5AA-5D2C-2F3E-C9075C80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EE8C3-F162-3177-307B-BCA98BCE2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93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78401-4B0D-F77E-6D71-E7D5E7D54D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84400-3465-4635-646F-29E1EC13A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45FCE-15DD-246C-B3EF-C6E99D61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553C3-9CE3-8EE7-77E6-A5EAD8D1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B952E-F7C8-4481-7A21-2B999639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13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DE1392-B3BC-5569-44A8-7EABD2025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0810E-A34C-3A6C-ABD2-CF0C6D7D1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053FD-44F5-05FA-4676-AF3E7C148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54632-8DB7-439B-9E19-304FF59CD76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2745-1308-7476-6BCC-23D766C02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5B08B-0FCF-6882-5DB0-461909F8D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4BF35-5039-4187-9830-A4A99D4102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74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4F68-8DF3-B3F3-6915-25463EEFC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477" y="193430"/>
            <a:ext cx="9026769" cy="231237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📦 Module 2 Topics (From Syllabus)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02A58-F036-07DB-75C0-884BF657B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245" y="2321170"/>
            <a:ext cx="9214339" cy="3508130"/>
          </a:xfrm>
        </p:spPr>
        <p:txBody>
          <a:bodyPr>
            <a:normAutofit fontScale="25000" lnSpcReduction="20000"/>
          </a:bodyPr>
          <a:lstStyle/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Classes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Names &amp; Objects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Python Scopes and Namespaces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Class Definition Syntax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Class, Instance &amp; Method Objects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Class and Instance Variables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Inheritance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Generators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String Pattern Matching</a:t>
            </a:r>
          </a:p>
          <a:p>
            <a:pPr marL="1143000" lvl="0" indent="-1143000" algn="l">
              <a:buFont typeface="Arial" panose="020B0604020202020204" pitchFamily="34" charset="0"/>
              <a:buChar char="•"/>
            </a:pPr>
            <a:r>
              <a:rPr lang="en-IN" sz="8000" dirty="0"/>
              <a:t>Python 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79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96B1-A9A4-5A81-6483-56AF083D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069" y="365125"/>
            <a:ext cx="10515600" cy="1325563"/>
          </a:xfrm>
        </p:spPr>
        <p:txBody>
          <a:bodyPr/>
          <a:lstStyle/>
          <a:p>
            <a:r>
              <a:rPr lang="en-IN" dirty="0"/>
              <a:t>Session 1 – Introduction to Classes &amp;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C0DE-DD5C-AD39-96E8-19267F0CD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1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1️⃣ Session Overview</a:t>
            </a:r>
          </a:p>
          <a:p>
            <a:r>
              <a:rPr lang="en-US" b="1" dirty="0"/>
              <a:t>Topics Covered:</a:t>
            </a:r>
            <a:endParaRPr lang="en-US" dirty="0"/>
          </a:p>
          <a:p>
            <a:r>
              <a:rPr lang="en-US" dirty="0"/>
              <a:t>What is Object-Oriented Programming (OOP)?</a:t>
            </a:r>
          </a:p>
          <a:p>
            <a:r>
              <a:rPr lang="en-US" dirty="0"/>
              <a:t>Why use classes and objects?</a:t>
            </a:r>
          </a:p>
          <a:p>
            <a:r>
              <a:rPr lang="en-US" dirty="0"/>
              <a:t>Basic class creation</a:t>
            </a:r>
          </a:p>
          <a:p>
            <a:r>
              <a:rPr lang="en-US" dirty="0"/>
              <a:t>Creating and using objects</a:t>
            </a:r>
          </a:p>
          <a:p>
            <a:r>
              <a:rPr lang="en-US" dirty="0"/>
              <a:t>The __</a:t>
            </a:r>
            <a:r>
              <a:rPr lang="en-US" dirty="0" err="1"/>
              <a:t>init</a:t>
            </a:r>
            <a:r>
              <a:rPr lang="en-US" dirty="0"/>
              <a:t>__() constructor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02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73CBA-7B87-BF5D-BF30-0D3A1B127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285" y="295764"/>
            <a:ext cx="11620500" cy="628088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OOP (Object-Oriented Programming):</a:t>
            </a:r>
            <a:br>
              <a:rPr lang="en-US" dirty="0"/>
            </a:br>
            <a:r>
              <a:rPr lang="en-US" dirty="0"/>
              <a:t>is a method of programming that organizes code into classes and objects.</a:t>
            </a:r>
            <a:br>
              <a:rPr lang="en-US" dirty="0"/>
            </a:br>
            <a:r>
              <a:rPr lang="en-US" dirty="0"/>
              <a:t>It makes the program </a:t>
            </a:r>
            <a:r>
              <a:rPr lang="en-US" b="1" dirty="0"/>
              <a:t>modular, reusable, and easier to understand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Class:</a:t>
            </a:r>
            <a:br>
              <a:rPr lang="en-US" dirty="0"/>
            </a:br>
            <a:r>
              <a:rPr lang="en-US" dirty="0"/>
              <a:t>A blueprint or template for creating objects.</a:t>
            </a:r>
            <a:br>
              <a:rPr lang="en-US" dirty="0"/>
            </a:br>
            <a:r>
              <a:rPr lang="en-US" dirty="0"/>
              <a:t>Example: A “Car” class defines what all cars have in common (brand, color, start, stop).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Object:</a:t>
            </a:r>
            <a:br>
              <a:rPr lang="en-US" dirty="0"/>
            </a:br>
            <a:r>
              <a:rPr lang="en-US" dirty="0"/>
              <a:t>An instance of a class. It represents a specific example created from a class.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Constructor (__</a:t>
            </a:r>
            <a:r>
              <a:rPr lang="en-US" b="1" dirty="0" err="1"/>
              <a:t>init</a:t>
            </a:r>
            <a:r>
              <a:rPr lang="en-US" b="1" dirty="0"/>
              <a:t>__()):</a:t>
            </a:r>
            <a:br>
              <a:rPr lang="en-US" dirty="0"/>
            </a:br>
            <a:r>
              <a:rPr lang="en-US" dirty="0"/>
              <a:t>A special method that runs automatically when an object is created. It initializes the object’s attributes.</a:t>
            </a:r>
          </a:p>
          <a:p>
            <a:pPr>
              <a:lnSpc>
                <a:spcPct val="11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2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33AF3-BAA1-2B1F-A977-246EA7C0E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8" y="597878"/>
            <a:ext cx="9214339" cy="55790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__</a:t>
            </a:r>
            <a:r>
              <a:rPr lang="en-US" b="1" dirty="0" err="1"/>
              <a:t>init</a:t>
            </a:r>
            <a:r>
              <a:rPr lang="en-US" b="1" dirty="0"/>
              <a:t>__ Method:</a:t>
            </a:r>
          </a:p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is a </a:t>
            </a:r>
            <a:r>
              <a:rPr lang="en-US" b="1" dirty="0"/>
              <a:t>special method</a:t>
            </a:r>
            <a:r>
              <a:rPr lang="en-US" dirty="0"/>
              <a:t> in Python (also called a </a:t>
            </a:r>
            <a:r>
              <a:rPr lang="en-US" b="1" dirty="0"/>
              <a:t>constructor</a:t>
            </a:r>
            <a:r>
              <a:rPr lang="en-US" dirty="0"/>
              <a:t>).</a:t>
            </a:r>
          </a:p>
          <a:p>
            <a:r>
              <a:rPr lang="en-US" dirty="0"/>
              <a:t>It runs </a:t>
            </a:r>
            <a:r>
              <a:rPr lang="en-US" b="1" dirty="0"/>
              <a:t>automatically</a:t>
            </a:r>
            <a:r>
              <a:rPr lang="en-US" dirty="0"/>
              <a:t> every time an </a:t>
            </a:r>
            <a:r>
              <a:rPr lang="en-US" b="1" dirty="0"/>
              <a:t>object is created</a:t>
            </a:r>
            <a:r>
              <a:rPr lang="en-US" dirty="0"/>
              <a:t>.</a:t>
            </a:r>
          </a:p>
          <a:p>
            <a:r>
              <a:rPr lang="en-US" dirty="0"/>
              <a:t>It is used to </a:t>
            </a:r>
            <a:r>
              <a:rPr lang="en-US" b="1" dirty="0"/>
              <a:t>initialize the object’s variables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Student:    </a:t>
            </a:r>
          </a:p>
          <a:p>
            <a:pPr marL="0" indent="0">
              <a:buNone/>
            </a:pPr>
            <a:r>
              <a:rPr lang="en-US" dirty="0"/>
              <a:t>	def __</a:t>
            </a:r>
            <a:r>
              <a:rPr lang="en-US" dirty="0" err="1"/>
              <a:t>init</a:t>
            </a:r>
            <a:r>
              <a:rPr lang="en-US" dirty="0"/>
              <a:t>__(self, name, age):       </a:t>
            </a:r>
          </a:p>
          <a:p>
            <a:pPr marL="0" indent="0">
              <a:buNone/>
            </a:pPr>
            <a:r>
              <a:rPr lang="en-US" dirty="0"/>
              <a:t>		self.name = name       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self.age</a:t>
            </a:r>
            <a:r>
              <a:rPr lang="en-US" dirty="0"/>
              <a:t> = age        </a:t>
            </a:r>
          </a:p>
          <a:p>
            <a:pPr marL="0" indent="0">
              <a:buNone/>
            </a:pPr>
            <a:r>
              <a:rPr lang="en-US" dirty="0"/>
              <a:t>		print("Object Created Successfully!")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Creating object	</a:t>
            </a:r>
          </a:p>
          <a:p>
            <a:pPr marL="0" indent="0">
              <a:buNone/>
            </a:pPr>
            <a:r>
              <a:rPr lang="en-US" dirty="0"/>
              <a:t>s1 = Student("Anas", 21)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42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C9B65-1587-8A9F-FA25-B96E8A59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7731"/>
            <a:ext cx="11125200" cy="58692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self Keyword:</a:t>
            </a:r>
          </a:p>
          <a:p>
            <a:r>
              <a:rPr lang="en-US" dirty="0"/>
              <a:t>self refers to the </a:t>
            </a:r>
            <a:r>
              <a:rPr lang="en-US" b="1" dirty="0"/>
              <a:t>current object</a:t>
            </a:r>
            <a:r>
              <a:rPr lang="en-US" dirty="0"/>
              <a:t> of the class.</a:t>
            </a:r>
          </a:p>
          <a:p>
            <a:r>
              <a:rPr lang="en-US" dirty="0"/>
              <a:t>It is used to access </a:t>
            </a:r>
            <a:r>
              <a:rPr lang="en-US" b="1" dirty="0"/>
              <a:t>object’s variables and methods</a:t>
            </a:r>
            <a:r>
              <a:rPr lang="en-US" dirty="0"/>
              <a:t> inside the class.</a:t>
            </a:r>
          </a:p>
          <a:p>
            <a:r>
              <a:rPr lang="en-US" dirty="0"/>
              <a:t>When you create different objects, self makes sure each object keeps </a:t>
            </a:r>
            <a:r>
              <a:rPr lang="en-US" b="1" dirty="0"/>
              <a:t>its own data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Car:    </a:t>
            </a:r>
          </a:p>
          <a:p>
            <a:pPr marL="0" indent="0">
              <a:buNone/>
            </a:pPr>
            <a:r>
              <a:rPr lang="en-US" dirty="0"/>
              <a:t>	def __</a:t>
            </a:r>
            <a:r>
              <a:rPr lang="en-US" dirty="0" err="1"/>
              <a:t>init</a:t>
            </a:r>
            <a:r>
              <a:rPr lang="en-US" dirty="0"/>
              <a:t>__(self, brand, color):       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self.brand</a:t>
            </a:r>
            <a:r>
              <a:rPr lang="en-US" dirty="0"/>
              <a:t> = brand      # 'self' stores object data       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self.color</a:t>
            </a:r>
            <a:r>
              <a:rPr lang="en-US" dirty="0"/>
              <a:t> = color    </a:t>
            </a:r>
          </a:p>
          <a:p>
            <a:pPr marL="0" indent="0">
              <a:buNone/>
            </a:pPr>
            <a:r>
              <a:rPr lang="en-US" dirty="0"/>
              <a:t>	def show(self):       </a:t>
            </a:r>
          </a:p>
          <a:p>
            <a:pPr marL="0" indent="0">
              <a:buNone/>
            </a:pPr>
            <a:r>
              <a:rPr lang="en-US" dirty="0"/>
              <a:t>		print("Car Brand:", </a:t>
            </a:r>
            <a:r>
              <a:rPr lang="en-US" dirty="0" err="1"/>
              <a:t>self.brand</a:t>
            </a:r>
            <a:r>
              <a:rPr lang="en-US" dirty="0"/>
              <a:t>)        </a:t>
            </a:r>
          </a:p>
          <a:p>
            <a:pPr marL="0" indent="0">
              <a:buNone/>
            </a:pPr>
            <a:r>
              <a:rPr lang="en-US" dirty="0"/>
              <a:t>		print("Car Color:", </a:t>
            </a:r>
            <a:r>
              <a:rPr lang="en-US" dirty="0" err="1"/>
              <a:t>self.color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c1 = Car("BMW", "Black")</a:t>
            </a:r>
          </a:p>
          <a:p>
            <a:pPr marL="0" indent="0">
              <a:buNone/>
            </a:pPr>
            <a:r>
              <a:rPr lang="en-US" dirty="0"/>
              <a:t>c2 = Car("Audi", "Red")</a:t>
            </a:r>
          </a:p>
          <a:p>
            <a:pPr marL="0" indent="0">
              <a:buNone/>
            </a:pPr>
            <a:r>
              <a:rPr lang="en-US" dirty="0"/>
              <a:t>c1.show()</a:t>
            </a:r>
          </a:p>
          <a:p>
            <a:pPr marL="0" indent="0">
              <a:buNone/>
            </a:pPr>
            <a:r>
              <a:rPr lang="en-US" dirty="0"/>
              <a:t>c2.show()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108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0E9E3-3D73-A951-57B8-7DFB6FFEA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15" y="96715"/>
            <a:ext cx="11570677" cy="650630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# Example 1: Simple Class and Object</a:t>
            </a:r>
          </a:p>
          <a:p>
            <a:pPr marL="0" indent="0">
              <a:buNone/>
            </a:pPr>
            <a:r>
              <a:rPr lang="en-US" dirty="0"/>
              <a:t>class Car:</a:t>
            </a:r>
          </a:p>
          <a:p>
            <a:pPr marL="0" indent="0">
              <a:buNone/>
            </a:pPr>
            <a:r>
              <a:rPr lang="en-US" dirty="0"/>
              <a:t>	def __</a:t>
            </a:r>
            <a:r>
              <a:rPr lang="en-US" dirty="0" err="1"/>
              <a:t>init</a:t>
            </a:r>
            <a:r>
              <a:rPr lang="en-US" dirty="0"/>
              <a:t>__(self, brand, color):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self.brand</a:t>
            </a:r>
            <a:r>
              <a:rPr lang="en-US" dirty="0"/>
              <a:t> = brand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self.color</a:t>
            </a:r>
            <a:r>
              <a:rPr lang="en-US" dirty="0"/>
              <a:t> = color</a:t>
            </a:r>
          </a:p>
          <a:p>
            <a:pPr marL="0" indent="0">
              <a:buNone/>
            </a:pPr>
            <a:r>
              <a:rPr lang="en-US" dirty="0"/>
              <a:t>	def </a:t>
            </a:r>
            <a:r>
              <a:rPr lang="en-US" dirty="0" err="1"/>
              <a:t>show_details</a:t>
            </a:r>
            <a:r>
              <a:rPr lang="en-US" dirty="0"/>
              <a:t>(self): </a:t>
            </a:r>
          </a:p>
          <a:p>
            <a:pPr marL="0" indent="0">
              <a:buNone/>
            </a:pPr>
            <a:r>
              <a:rPr lang="en-US" dirty="0"/>
              <a:t>		print("Brand:", </a:t>
            </a:r>
            <a:r>
              <a:rPr lang="en-US" dirty="0" err="1"/>
              <a:t>self.brand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	print("Color:", </a:t>
            </a:r>
            <a:r>
              <a:rPr lang="en-US" dirty="0" err="1"/>
              <a:t>self.color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car1 = Car("BMW", "Black")</a:t>
            </a:r>
          </a:p>
          <a:p>
            <a:pPr marL="0" indent="0">
              <a:buNone/>
            </a:pPr>
            <a:r>
              <a:rPr lang="en-US" dirty="0"/>
              <a:t>car2 = Car("Suzuki", "White")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Calling method</a:t>
            </a:r>
          </a:p>
          <a:p>
            <a:pPr marL="0" indent="0">
              <a:buNone/>
            </a:pPr>
            <a:r>
              <a:rPr lang="en-US" dirty="0"/>
              <a:t>car1.show_details()</a:t>
            </a:r>
          </a:p>
          <a:p>
            <a:pPr marL="0" indent="0">
              <a:buNone/>
            </a:pPr>
            <a:r>
              <a:rPr lang="en-US" dirty="0"/>
              <a:t>car2.show_details()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325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0B3F-89F4-D151-4C8C-F99B384CF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785" y="931985"/>
            <a:ext cx="10650415" cy="481415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Brand: BMW</a:t>
            </a:r>
          </a:p>
          <a:p>
            <a:pPr marL="0" indent="0">
              <a:buNone/>
            </a:pPr>
            <a:r>
              <a:rPr lang="en-US" dirty="0"/>
              <a:t>Color: Black</a:t>
            </a:r>
          </a:p>
          <a:p>
            <a:pPr marL="0" indent="0">
              <a:buNone/>
            </a:pPr>
            <a:r>
              <a:rPr lang="en-US" dirty="0"/>
              <a:t>Brand: Suzuki</a:t>
            </a:r>
          </a:p>
          <a:p>
            <a:pPr marL="0" indent="0">
              <a:buNone/>
            </a:pPr>
            <a:r>
              <a:rPr lang="en-US" dirty="0"/>
              <a:t>Color: White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46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5FD61-2B96-FCAB-3F73-AF63E7DF9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577" y="263768"/>
            <a:ext cx="7851531" cy="618099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class Student: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def __</a:t>
            </a:r>
            <a:r>
              <a:rPr lang="en-IN" sz="1000" dirty="0" err="1"/>
              <a:t>init</a:t>
            </a:r>
            <a:r>
              <a:rPr lang="en-IN" sz="1000" dirty="0"/>
              <a:t>__(self, name, mark1, mark2, mark3):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  	self.name = name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  	self.mark1 = mark1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  	self.mark2 = mark2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  	self.mark3 = mark3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def </a:t>
            </a:r>
            <a:r>
              <a:rPr lang="en-IN" sz="1000" dirty="0" err="1"/>
              <a:t>display_details</a:t>
            </a:r>
            <a:r>
              <a:rPr lang="en-IN" sz="1000" dirty="0"/>
              <a:t>(self):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	total = self.mark1 + self.mark2 + self.mark3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	  average = total /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	print("\</a:t>
            </a:r>
            <a:r>
              <a:rPr lang="en-IN" sz="1000" dirty="0" err="1"/>
              <a:t>nStudent</a:t>
            </a:r>
            <a:r>
              <a:rPr lang="en-IN" sz="1000" dirty="0"/>
              <a:t> Name:", self.name)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	 print("Total Marks:", total)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	print("Average Marks:", average)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     	print("------------------------")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# Taking input from user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name = input("Enter student name: 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m1 = int(input("Enter mark 1: "))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m2 = int(input("Enter mark 2: "))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m3 = int(input("Enter mark 3: "))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# Creating object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student = Student(name, m1, m2, m3)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/>
              <a:t># Display details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000" dirty="0" err="1"/>
              <a:t>student.display_details</a:t>
            </a:r>
            <a:r>
              <a:rPr lang="en-IN" sz="1000" dirty="0"/>
              <a:t>()</a:t>
            </a:r>
          </a:p>
          <a:p>
            <a:pPr>
              <a:lnSpc>
                <a:spcPct val="0"/>
              </a:lnSpc>
            </a:pP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790053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C37FA-DDCC-3611-6701-8DFB298E2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862" y="298938"/>
            <a:ext cx="10966938" cy="5878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5️⃣ Mini Project / Practical Task</a:t>
            </a:r>
          </a:p>
          <a:p>
            <a:r>
              <a:rPr lang="en-US" b="1" dirty="0"/>
              <a:t>Mini Project:</a:t>
            </a:r>
            <a:r>
              <a:rPr lang="en-US" dirty="0"/>
              <a:t> </a:t>
            </a:r>
            <a:r>
              <a:rPr lang="en-US" i="1" dirty="0"/>
              <a:t>Student Info System (Basic)</a:t>
            </a:r>
            <a:br>
              <a:rPr lang="en-US" dirty="0"/>
            </a:br>
            <a:r>
              <a:rPr lang="en-US" dirty="0"/>
              <a:t>Create a class Student with:</a:t>
            </a:r>
          </a:p>
          <a:p>
            <a:r>
              <a:rPr lang="en-US" dirty="0"/>
              <a:t>Attributes: name, age, grade</a:t>
            </a:r>
          </a:p>
          <a:p>
            <a:r>
              <a:rPr lang="en-US" dirty="0"/>
              <a:t>Method: </a:t>
            </a:r>
            <a:r>
              <a:rPr lang="en-US" dirty="0" err="1"/>
              <a:t>show_info</a:t>
            </a:r>
            <a:r>
              <a:rPr lang="en-US" dirty="0"/>
              <a:t>() to print student details</a:t>
            </a:r>
            <a:br>
              <a:rPr lang="en-US" dirty="0"/>
            </a:br>
            <a:r>
              <a:rPr lang="en-US" dirty="0"/>
              <a:t>Create 3 student objects and display their info.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6️⃣ Homework</a:t>
            </a:r>
          </a:p>
          <a:p>
            <a:r>
              <a:rPr lang="en-US" dirty="0"/>
              <a:t>Create a class Book with title, author, and price.</a:t>
            </a:r>
            <a:br>
              <a:rPr lang="en-US" dirty="0"/>
            </a:br>
            <a:r>
              <a:rPr lang="en-US" dirty="0"/>
              <a:t>Add a method </a:t>
            </a:r>
            <a:r>
              <a:rPr lang="en-US" dirty="0" err="1"/>
              <a:t>book_details</a:t>
            </a:r>
            <a:r>
              <a:rPr lang="en-US" dirty="0"/>
              <a:t>() that displays book information.</a:t>
            </a:r>
          </a:p>
          <a:p>
            <a:r>
              <a:rPr lang="en-US" dirty="0"/>
              <a:t>Create 2–3 Book objects and call the method.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93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EF21-252B-D767-B41E-E6E04BD33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037492"/>
            <a:ext cx="10782300" cy="513947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7️⃣ Common Doubts &amp; Tips</a:t>
            </a:r>
          </a:p>
          <a:p>
            <a:pPr marL="0" indent="0">
              <a:buNone/>
            </a:pPr>
            <a:r>
              <a:rPr lang="en-US" dirty="0"/>
              <a:t>❓ </a:t>
            </a:r>
            <a:r>
              <a:rPr lang="en-US" i="1" dirty="0"/>
              <a:t>What is self?</a:t>
            </a:r>
            <a:br>
              <a:rPr lang="en-US" dirty="0"/>
            </a:br>
            <a:r>
              <a:rPr lang="en-US" dirty="0"/>
              <a:t>➜ It refers to the current object — mandatory in all instance methods.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❓ </a:t>
            </a:r>
            <a:r>
              <a:rPr lang="en-US" i="1" dirty="0"/>
              <a:t>Why use __</a:t>
            </a:r>
            <a:r>
              <a:rPr lang="en-US" i="1" dirty="0" err="1"/>
              <a:t>init</a:t>
            </a:r>
            <a:r>
              <a:rPr lang="en-US" i="1" dirty="0"/>
              <a:t>__()?</a:t>
            </a:r>
            <a:br>
              <a:rPr lang="en-US" dirty="0"/>
            </a:br>
            <a:r>
              <a:rPr lang="en-US" dirty="0"/>
              <a:t>➜ To automatically initialize object attributes.</a:t>
            </a:r>
          </a:p>
          <a:p>
            <a:pPr marL="0" indent="0">
              <a:buNone/>
            </a:pPr>
            <a:r>
              <a:rPr lang="en-US" dirty="0"/>
              <a:t>💡 Tip: Explain with real-life examples (Car, Student, </a:t>
            </a:r>
            <a:r>
              <a:rPr lang="en-US" dirty="0" err="1"/>
              <a:t>BankAccount</a:t>
            </a:r>
            <a:r>
              <a:rPr lang="en-US" dirty="0"/>
              <a:t>) to make the concept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6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ED0E7-7471-376A-E4A0-5517AA66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23" y="703385"/>
            <a:ext cx="10922977" cy="54735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Session 2 – Class &amp; Instance Variables + Method Objects</a:t>
            </a:r>
          </a:p>
          <a:p>
            <a:pPr marL="0" indent="0">
              <a:buNone/>
            </a:pPr>
            <a:r>
              <a:rPr lang="en-US" b="1" dirty="0"/>
              <a:t> Session Overview</a:t>
            </a:r>
          </a:p>
          <a:p>
            <a:pPr marL="0" indent="0">
              <a:buNone/>
            </a:pPr>
            <a:r>
              <a:rPr lang="en-US" b="1" dirty="0"/>
              <a:t>Topics:</a:t>
            </a:r>
            <a:endParaRPr lang="en-US" dirty="0"/>
          </a:p>
          <a:p>
            <a:r>
              <a:rPr lang="en-US" dirty="0"/>
              <a:t>What are </a:t>
            </a:r>
            <a:r>
              <a:rPr lang="en-US" b="1" dirty="0"/>
              <a:t>instance variables</a:t>
            </a:r>
            <a:endParaRPr lang="en-US" dirty="0"/>
          </a:p>
          <a:p>
            <a:r>
              <a:rPr lang="en-US" dirty="0"/>
              <a:t>What are </a:t>
            </a:r>
            <a:r>
              <a:rPr lang="en-US" b="1" dirty="0"/>
              <a:t>class variables</a:t>
            </a:r>
            <a:endParaRPr lang="en-US" dirty="0"/>
          </a:p>
          <a:p>
            <a:r>
              <a:rPr lang="en-US" dirty="0"/>
              <a:t>Difference between them</a:t>
            </a:r>
          </a:p>
          <a:p>
            <a:r>
              <a:rPr lang="en-US" dirty="0"/>
              <a:t>How to access and modify them</a:t>
            </a:r>
          </a:p>
          <a:p>
            <a:r>
              <a:rPr lang="en-US" dirty="0"/>
              <a:t>Method objects (self reference)</a:t>
            </a:r>
          </a:p>
          <a:p>
            <a:r>
              <a:rPr lang="en-US" dirty="0"/>
              <a:t>Example: Student counter system</a:t>
            </a:r>
          </a:p>
          <a:p>
            <a:r>
              <a:rPr lang="en-US" dirty="0"/>
              <a:t>Mini Project + Homework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199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C0EC-DDBF-178D-0AE5-A709B8C0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Concept Notes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523700-D259-0F27-FCC5-D0A63AAF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5688102"/>
              </p:ext>
            </p:extLst>
          </p:nvPr>
        </p:nvGraphicFramePr>
        <p:xfrm>
          <a:off x="465992" y="2426677"/>
          <a:ext cx="10887808" cy="2397577"/>
        </p:xfrm>
        <a:graphic>
          <a:graphicData uri="http://schemas.openxmlformats.org/drawingml/2006/table">
            <a:tbl>
              <a:tblPr/>
              <a:tblGrid>
                <a:gridCol w="2721952">
                  <a:extLst>
                    <a:ext uri="{9D8B030D-6E8A-4147-A177-3AD203B41FA5}">
                      <a16:colId xmlns:a16="http://schemas.microsoft.com/office/drawing/2014/main" val="960767586"/>
                    </a:ext>
                  </a:extLst>
                </a:gridCol>
                <a:gridCol w="2721952">
                  <a:extLst>
                    <a:ext uri="{9D8B030D-6E8A-4147-A177-3AD203B41FA5}">
                      <a16:colId xmlns:a16="http://schemas.microsoft.com/office/drawing/2014/main" val="1163073546"/>
                    </a:ext>
                  </a:extLst>
                </a:gridCol>
                <a:gridCol w="2721952">
                  <a:extLst>
                    <a:ext uri="{9D8B030D-6E8A-4147-A177-3AD203B41FA5}">
                      <a16:colId xmlns:a16="http://schemas.microsoft.com/office/drawing/2014/main" val="2329369658"/>
                    </a:ext>
                  </a:extLst>
                </a:gridCol>
                <a:gridCol w="2721952">
                  <a:extLst>
                    <a:ext uri="{9D8B030D-6E8A-4147-A177-3AD203B41FA5}">
                      <a16:colId xmlns:a16="http://schemas.microsoft.com/office/drawing/2014/main" val="2692952878"/>
                    </a:ext>
                  </a:extLst>
                </a:gridCol>
              </a:tblGrid>
              <a:tr h="532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Where it’s defined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Belongs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066678"/>
                  </a:ext>
                </a:extLst>
              </a:tr>
              <a:tr h="932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Instance Variable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__init__()</a:t>
                      </a:r>
                      <a:r>
                        <a:rPr lang="en-IN"/>
                        <a:t> using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self.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Each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Holds data unique to each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742573"/>
                  </a:ext>
                </a:extLst>
              </a:tr>
              <a:tr h="932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Class Variable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Directly inside the class (but outside methods)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objects (shared)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Common data for every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946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413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3C55-8965-5DCC-CBC3-F78B34A74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999147"/>
            <a:ext cx="10773508" cy="536648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Mini Project / Practical Task</a:t>
            </a:r>
          </a:p>
          <a:p>
            <a:pPr marL="0" indent="0">
              <a:buNone/>
            </a:pPr>
            <a:r>
              <a:rPr lang="en-US" b="1" i="1" dirty="0"/>
              <a:t>Mini Project: Employee Tracker System</a:t>
            </a:r>
            <a:endParaRPr lang="en-US" b="1" dirty="0"/>
          </a:p>
          <a:p>
            <a:r>
              <a:rPr lang="en-US" dirty="0"/>
              <a:t>Create a class Employee with:</a:t>
            </a:r>
          </a:p>
          <a:p>
            <a:r>
              <a:rPr lang="en-US" dirty="0"/>
              <a:t>Class Variable: company = "</a:t>
            </a:r>
            <a:r>
              <a:rPr lang="en-US" dirty="0" err="1"/>
              <a:t>iNode</a:t>
            </a:r>
            <a:r>
              <a:rPr lang="en-US" dirty="0"/>
              <a:t> Tech"</a:t>
            </a:r>
          </a:p>
          <a:p>
            <a:r>
              <a:rPr lang="en-US" dirty="0"/>
              <a:t>Instance Variables: name, salary</a:t>
            </a:r>
          </a:p>
          <a:p>
            <a:r>
              <a:rPr lang="en-US" dirty="0"/>
              <a:t>Method: display() to print details</a:t>
            </a:r>
          </a:p>
          <a:p>
            <a:r>
              <a:rPr lang="en-US" dirty="0"/>
              <a:t>Keep a class variable </a:t>
            </a:r>
            <a:r>
              <a:rPr lang="en-US" dirty="0" err="1"/>
              <a:t>emp_count</a:t>
            </a:r>
            <a:r>
              <a:rPr lang="en-US" dirty="0"/>
              <a:t> to count how many employees created.</a:t>
            </a:r>
          </a:p>
          <a:p>
            <a:pPr marL="0" indent="0">
              <a:buNone/>
            </a:pPr>
            <a:r>
              <a:rPr lang="en-US" dirty="0"/>
              <a:t>Hint:</a:t>
            </a:r>
          </a:p>
          <a:p>
            <a:pPr marL="0" indent="0">
              <a:buNone/>
            </a:pPr>
            <a:r>
              <a:rPr lang="en-IN" dirty="0" err="1"/>
              <a:t>Employee.emp_count</a:t>
            </a:r>
            <a:r>
              <a:rPr lang="en-IN" dirty="0"/>
              <a:t> += 1</a:t>
            </a:r>
          </a:p>
        </p:txBody>
      </p:sp>
    </p:spTree>
    <p:extLst>
      <p:ext uri="{BB962C8B-B14F-4D97-AF65-F5344CB8AC3E}">
        <p14:creationId xmlns:p14="http://schemas.microsoft.com/office/powerpoint/2010/main" val="287568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91478-2C73-4E72-FC75-7DD68688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Homework</a:t>
            </a:r>
          </a:p>
          <a:p>
            <a:r>
              <a:rPr lang="en-US" dirty="0"/>
              <a:t>Write a class </a:t>
            </a:r>
            <a:r>
              <a:rPr lang="en-US" dirty="0" err="1"/>
              <a:t>LibraryBook</a:t>
            </a:r>
            <a:r>
              <a:rPr lang="en-US" dirty="0"/>
              <a:t> with:</a:t>
            </a:r>
          </a:p>
          <a:p>
            <a:r>
              <a:rPr lang="en-US" dirty="0"/>
              <a:t>Class Variable: </a:t>
            </a:r>
            <a:r>
              <a:rPr lang="en-US" dirty="0" err="1"/>
              <a:t>library_name</a:t>
            </a:r>
            <a:r>
              <a:rPr lang="en-US" dirty="0"/>
              <a:t> = "Central Library"</a:t>
            </a:r>
          </a:p>
          <a:p>
            <a:r>
              <a:rPr lang="en-US" dirty="0"/>
              <a:t>Instance Variables: title, author</a:t>
            </a:r>
          </a:p>
          <a:p>
            <a:r>
              <a:rPr lang="en-US" dirty="0"/>
              <a:t>Method display() to print details.</a:t>
            </a:r>
          </a:p>
          <a:p>
            <a:r>
              <a:rPr lang="en-US" dirty="0"/>
              <a:t>Create 3 book objects and display them.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643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BBFCD-D421-857B-47A6-6421DEBC8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23" y="5937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Session 3 – Namespaces &amp; Scope + Object References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09F53-71C1-4175-61D1-A1EFBB68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Session Overview</a:t>
            </a:r>
          </a:p>
          <a:p>
            <a:pPr marL="0" indent="0">
              <a:buNone/>
            </a:pPr>
            <a:r>
              <a:rPr lang="en-US" b="1" dirty="0"/>
              <a:t>Topics:</a:t>
            </a:r>
            <a:endParaRPr lang="en-US" dirty="0"/>
          </a:p>
          <a:p>
            <a:r>
              <a:rPr lang="en-US" dirty="0"/>
              <a:t>What is a </a:t>
            </a:r>
            <a:r>
              <a:rPr lang="en-US" b="1" dirty="0"/>
              <a:t>Namespace</a:t>
            </a:r>
            <a:endParaRPr lang="en-US" dirty="0"/>
          </a:p>
          <a:p>
            <a:r>
              <a:rPr lang="en-US" dirty="0"/>
              <a:t>What is </a:t>
            </a:r>
            <a:r>
              <a:rPr lang="en-US" b="1" dirty="0"/>
              <a:t>Scope</a:t>
            </a:r>
            <a:endParaRPr lang="en-US" dirty="0"/>
          </a:p>
          <a:p>
            <a:r>
              <a:rPr lang="en-US" dirty="0"/>
              <a:t>LEGB Rule (Local → Enclosing → Global → Built-in)</a:t>
            </a:r>
          </a:p>
          <a:p>
            <a:r>
              <a:rPr lang="en-US" dirty="0"/>
              <a:t>How variable names are resolved</a:t>
            </a:r>
          </a:p>
          <a:p>
            <a:r>
              <a:rPr lang="en-US" dirty="0"/>
              <a:t>Object References and Memory concept</a:t>
            </a:r>
          </a:p>
          <a:p>
            <a:r>
              <a:rPr lang="en-US" dirty="0"/>
              <a:t>Mini Project + Homework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961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21D9-D43E-B681-F8FD-BF69FC93A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 Notes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BB4332-04ED-9A54-FA91-F83DC77DB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5255771"/>
              </p:ext>
            </p:extLst>
          </p:nvPr>
        </p:nvGraphicFramePr>
        <p:xfrm>
          <a:off x="483577" y="2356338"/>
          <a:ext cx="10870224" cy="2650796"/>
        </p:xfrm>
        <a:graphic>
          <a:graphicData uri="http://schemas.openxmlformats.org/drawingml/2006/table">
            <a:tbl>
              <a:tblPr/>
              <a:tblGrid>
                <a:gridCol w="5408735">
                  <a:extLst>
                    <a:ext uri="{9D8B030D-6E8A-4147-A177-3AD203B41FA5}">
                      <a16:colId xmlns:a16="http://schemas.microsoft.com/office/drawing/2014/main" val="3355584012"/>
                    </a:ext>
                  </a:extLst>
                </a:gridCol>
                <a:gridCol w="5461489">
                  <a:extLst>
                    <a:ext uri="{9D8B030D-6E8A-4147-A177-3AD203B41FA5}">
                      <a16:colId xmlns:a16="http://schemas.microsoft.com/office/drawing/2014/main" val="1396184606"/>
                    </a:ext>
                  </a:extLst>
                </a:gridCol>
              </a:tblGrid>
              <a:tr h="481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707203"/>
                  </a:ext>
                </a:extLst>
              </a:tr>
              <a:tr h="8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Namespace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collection (dictionary) that stores names and their corresponding objects.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733541"/>
                  </a:ext>
                </a:extLst>
              </a:tr>
              <a:tr h="481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Scope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area in code where a name is visible or accessible.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069719"/>
                  </a:ext>
                </a:extLst>
              </a:tr>
              <a:tr h="8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Reference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link between a variable name and the actual object stored in memory.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402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563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825B4-D10E-B4A1-9F1D-908825D88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54" y="870438"/>
            <a:ext cx="10843846" cy="530652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a Namespace?</a:t>
            </a:r>
          </a:p>
          <a:p>
            <a:pPr marL="0" indent="0">
              <a:buNone/>
            </a:pPr>
            <a:r>
              <a:rPr lang="en-US" b="1" dirty="0"/>
              <a:t>Simple Definition:</a:t>
            </a:r>
          </a:p>
          <a:p>
            <a:r>
              <a:rPr lang="en-US" dirty="0"/>
              <a:t>A </a:t>
            </a:r>
            <a:r>
              <a:rPr lang="en-US" b="1" dirty="0"/>
              <a:t>namespace</a:t>
            </a:r>
            <a:r>
              <a:rPr lang="en-US" dirty="0"/>
              <a:t> is just a </a:t>
            </a:r>
            <a:r>
              <a:rPr lang="en-US" b="1" dirty="0"/>
              <a:t>collection (like a box or dictionary)</a:t>
            </a:r>
            <a:r>
              <a:rPr lang="en-US" dirty="0"/>
              <a:t> that stores all the </a:t>
            </a:r>
            <a:r>
              <a:rPr lang="en-US" b="1" dirty="0"/>
              <a:t>names (variables, functions, classes)</a:t>
            </a:r>
            <a:r>
              <a:rPr lang="en-US" dirty="0"/>
              <a:t> in your program and tells Python </a:t>
            </a:r>
            <a:r>
              <a:rPr lang="en-US" b="1" dirty="0"/>
              <a:t>which object</a:t>
            </a:r>
            <a:r>
              <a:rPr lang="en-US" dirty="0"/>
              <a:t> each name refers to.</a:t>
            </a:r>
          </a:p>
          <a:p>
            <a:r>
              <a:rPr lang="en-US" dirty="0"/>
              <a:t>Think of it like a </a:t>
            </a:r>
            <a:r>
              <a:rPr lang="en-US" i="1" dirty="0"/>
              <a:t>contact list</a:t>
            </a:r>
            <a:r>
              <a:rPr lang="en-US" dirty="0"/>
              <a:t>:</a:t>
            </a:r>
          </a:p>
          <a:p>
            <a:r>
              <a:rPr lang="en-US" dirty="0"/>
              <a:t>The </a:t>
            </a:r>
            <a:r>
              <a:rPr lang="en-US" b="1" dirty="0"/>
              <a:t>name</a:t>
            </a:r>
            <a:r>
              <a:rPr lang="en-US" dirty="0"/>
              <a:t> is the “contact name”.</a:t>
            </a:r>
          </a:p>
          <a:p>
            <a:r>
              <a:rPr lang="en-US" dirty="0"/>
              <a:t>The </a:t>
            </a:r>
            <a:r>
              <a:rPr lang="en-US" b="1" dirty="0"/>
              <a:t>object</a:t>
            </a:r>
            <a:r>
              <a:rPr lang="en-US" dirty="0"/>
              <a:t> is the “phone number” it points to.</a:t>
            </a:r>
          </a:p>
          <a:p>
            <a:pPr marL="0" indent="0">
              <a:buNone/>
            </a:pPr>
            <a:r>
              <a:rPr lang="en-US" dirty="0"/>
              <a:t>x = 10</a:t>
            </a:r>
          </a:p>
          <a:p>
            <a:pPr marL="0" indent="0">
              <a:buNone/>
            </a:pPr>
            <a:r>
              <a:rPr lang="en-US" dirty="0"/>
              <a:t>y = "Python"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A6E343-BD89-5460-5835-8FACC0B10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558262"/>
              </p:ext>
            </p:extLst>
          </p:nvPr>
        </p:nvGraphicFramePr>
        <p:xfrm>
          <a:off x="3004038" y="5008621"/>
          <a:ext cx="8678008" cy="1168342"/>
        </p:xfrm>
        <a:graphic>
          <a:graphicData uri="http://schemas.openxmlformats.org/drawingml/2006/table">
            <a:tbl>
              <a:tblPr/>
              <a:tblGrid>
                <a:gridCol w="4339004">
                  <a:extLst>
                    <a:ext uri="{9D8B030D-6E8A-4147-A177-3AD203B41FA5}">
                      <a16:colId xmlns:a16="http://schemas.microsoft.com/office/drawing/2014/main" val="741401667"/>
                    </a:ext>
                  </a:extLst>
                </a:gridCol>
                <a:gridCol w="4339004">
                  <a:extLst>
                    <a:ext uri="{9D8B030D-6E8A-4147-A177-3AD203B41FA5}">
                      <a16:colId xmlns:a16="http://schemas.microsoft.com/office/drawing/2014/main" val="60601116"/>
                    </a:ext>
                  </a:extLst>
                </a:gridCol>
              </a:tblGrid>
              <a:tr h="436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148018"/>
                  </a:ext>
                </a:extLst>
              </a:tr>
              <a:tr h="21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169362"/>
                  </a:ext>
                </a:extLst>
              </a:tr>
              <a:tr h="21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"Python"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47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37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9067-6215-F47A-8742-B20D403F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Namespaces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513C-2005-53BA-4F07-699C3FBE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Built-in Namespace</a:t>
            </a:r>
            <a:r>
              <a:rPr lang="en-US" dirty="0"/>
              <a:t> → Python’s own names (like print(), </a:t>
            </a:r>
            <a:r>
              <a:rPr lang="en-US" dirty="0" err="1"/>
              <a:t>len</a:t>
            </a:r>
            <a:r>
              <a:rPr lang="en-US" dirty="0"/>
              <a:t>(), type()).</a:t>
            </a:r>
          </a:p>
          <a:p>
            <a:r>
              <a:rPr lang="en-US" b="1" dirty="0"/>
              <a:t>Global Namespace</a:t>
            </a:r>
            <a:r>
              <a:rPr lang="en-US" dirty="0"/>
              <a:t> → Your file-level variables and functions.</a:t>
            </a:r>
          </a:p>
          <a:p>
            <a:r>
              <a:rPr lang="en-US" b="1" dirty="0"/>
              <a:t>Local Namespace</a:t>
            </a:r>
            <a:r>
              <a:rPr lang="en-US" dirty="0"/>
              <a:t> → Variables inside functions or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8653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75B107-9079-D010-059D-3CC3F51D3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952876"/>
              </p:ext>
            </p:extLst>
          </p:nvPr>
        </p:nvGraphicFramePr>
        <p:xfrm>
          <a:off x="553915" y="1995854"/>
          <a:ext cx="10799884" cy="3011280"/>
        </p:xfrm>
        <a:graphic>
          <a:graphicData uri="http://schemas.openxmlformats.org/drawingml/2006/table">
            <a:tbl>
              <a:tblPr/>
              <a:tblGrid>
                <a:gridCol w="2699971">
                  <a:extLst>
                    <a:ext uri="{9D8B030D-6E8A-4147-A177-3AD203B41FA5}">
                      <a16:colId xmlns:a16="http://schemas.microsoft.com/office/drawing/2014/main" val="611219029"/>
                    </a:ext>
                  </a:extLst>
                </a:gridCol>
                <a:gridCol w="2699971">
                  <a:extLst>
                    <a:ext uri="{9D8B030D-6E8A-4147-A177-3AD203B41FA5}">
                      <a16:colId xmlns:a16="http://schemas.microsoft.com/office/drawing/2014/main" val="1831819660"/>
                    </a:ext>
                  </a:extLst>
                </a:gridCol>
                <a:gridCol w="2699971">
                  <a:extLst>
                    <a:ext uri="{9D8B030D-6E8A-4147-A177-3AD203B41FA5}">
                      <a16:colId xmlns:a16="http://schemas.microsoft.com/office/drawing/2014/main" val="3826905178"/>
                    </a:ext>
                  </a:extLst>
                </a:gridCol>
                <a:gridCol w="2699971">
                  <a:extLst>
                    <a:ext uri="{9D8B030D-6E8A-4147-A177-3AD203B41FA5}">
                      <a16:colId xmlns:a16="http://schemas.microsoft.com/office/drawing/2014/main" val="3598787755"/>
                    </a:ext>
                  </a:extLst>
                </a:gridCol>
              </a:tblGrid>
              <a:tr h="54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Works 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94719"/>
                  </a:ext>
                </a:extLst>
              </a:tr>
              <a:tr h="958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locals()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Dictionary of local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Function-level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516774"/>
                  </a:ext>
                </a:extLst>
              </a:tr>
              <a:tr h="958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globals()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Dictionary of global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Anywhere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Global-level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84361"/>
                  </a:ext>
                </a:extLst>
              </a:tr>
              <a:tr h="54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.keys()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only the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Optional add-on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Just variable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193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241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0FA5-7574-7613-BAC2-4C4F3A14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Scope?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7141-2246-C1F9-4A5C-A09FAAEAA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Simple Definition:</a:t>
            </a:r>
          </a:p>
          <a:p>
            <a:r>
              <a:rPr lang="en-US" b="1" dirty="0"/>
              <a:t>Scope</a:t>
            </a:r>
            <a:r>
              <a:rPr lang="en-US" dirty="0"/>
              <a:t> means </a:t>
            </a:r>
            <a:r>
              <a:rPr lang="en-US" i="1" dirty="0"/>
              <a:t>where</a:t>
            </a:r>
            <a:r>
              <a:rPr lang="en-US" dirty="0"/>
              <a:t> you can </a:t>
            </a:r>
            <a:r>
              <a:rPr lang="en-US" b="1" dirty="0"/>
              <a:t>see or use</a:t>
            </a:r>
            <a:r>
              <a:rPr lang="en-US" dirty="0"/>
              <a:t> a variable.</a:t>
            </a:r>
          </a:p>
          <a:p>
            <a:r>
              <a:rPr lang="en-US" dirty="0"/>
              <a:t>Every variable has a limited area (scope) where it exists.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156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2838F-44FD-364E-6E6A-F076814E0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Reference?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B7A85-68FE-0485-D2DC-A42DC9027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Simple Definition:</a:t>
            </a:r>
          </a:p>
          <a:p>
            <a:r>
              <a:rPr lang="en-US" dirty="0"/>
              <a:t>A </a:t>
            </a:r>
            <a:r>
              <a:rPr lang="en-US" b="1" dirty="0"/>
              <a:t>reference</a:t>
            </a:r>
            <a:r>
              <a:rPr lang="en-US" dirty="0"/>
              <a:t> is a link between a </a:t>
            </a:r>
            <a:r>
              <a:rPr lang="en-US" b="1" dirty="0"/>
              <a:t>name</a:t>
            </a:r>
            <a:r>
              <a:rPr lang="en-US" dirty="0"/>
              <a:t> and the </a:t>
            </a:r>
            <a:r>
              <a:rPr lang="en-US" b="1" dirty="0"/>
              <a:t>object</a:t>
            </a:r>
            <a:r>
              <a:rPr lang="en-US" dirty="0"/>
              <a:t> in memory.</a:t>
            </a:r>
          </a:p>
          <a:p>
            <a:r>
              <a:rPr lang="en-US" dirty="0"/>
              <a:t>When you create a variable in Python, the </a:t>
            </a:r>
            <a:r>
              <a:rPr lang="en-US" i="1" dirty="0"/>
              <a:t>name</a:t>
            </a:r>
            <a:r>
              <a:rPr lang="en-US" dirty="0"/>
              <a:t> does not store the value directly — it </a:t>
            </a:r>
            <a:r>
              <a:rPr lang="en-US" b="1" dirty="0"/>
              <a:t>points</a:t>
            </a:r>
            <a:r>
              <a:rPr lang="en-US" dirty="0"/>
              <a:t> to the object in memory.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554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EE15-2DE1-9C8B-FB0F-76990CAA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3871"/>
            <a:ext cx="10515600" cy="1325563"/>
          </a:xfrm>
        </p:spPr>
        <p:txBody>
          <a:bodyPr/>
          <a:lstStyle/>
          <a:p>
            <a:r>
              <a:rPr lang="en-US" b="1" dirty="0"/>
              <a:t>LEGB Rule: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3F02E-BE6E-F101-7DA5-5E07FD9F8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4371"/>
            <a:ext cx="10515600" cy="4351338"/>
          </a:xfrm>
        </p:spPr>
        <p:txBody>
          <a:bodyPr/>
          <a:lstStyle/>
          <a:p>
            <a:r>
              <a:rPr lang="en-US" b="1" dirty="0"/>
              <a:t>Local</a:t>
            </a:r>
            <a:r>
              <a:rPr lang="en-US" dirty="0"/>
              <a:t> – names defined inside a function/class method.</a:t>
            </a:r>
          </a:p>
          <a:p>
            <a:r>
              <a:rPr lang="en-US" b="1" dirty="0"/>
              <a:t>Enclosing</a:t>
            </a:r>
            <a:r>
              <a:rPr lang="en-US" dirty="0"/>
              <a:t> – names in outer functions (nested functions).</a:t>
            </a:r>
          </a:p>
          <a:p>
            <a:r>
              <a:rPr lang="en-US" b="1" dirty="0"/>
              <a:t>Global</a:t>
            </a:r>
            <a:r>
              <a:rPr lang="en-US" dirty="0"/>
              <a:t> – names defined at the top level of the script.</a:t>
            </a:r>
          </a:p>
          <a:p>
            <a:r>
              <a:rPr lang="en-US" b="1" dirty="0"/>
              <a:t>Built-in</a:t>
            </a:r>
            <a:r>
              <a:rPr lang="en-US" dirty="0"/>
              <a:t> – names pre-defined in Python (like print, </a:t>
            </a:r>
            <a:r>
              <a:rPr lang="en-US" dirty="0" err="1"/>
              <a:t>len</a:t>
            </a:r>
            <a:r>
              <a:rPr lang="en-US" dirty="0"/>
              <a:t>, sum).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734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C530-3E86-A4E7-4EE4-927A240E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LEGB Rule?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568E9-0578-E6B0-9099-0E6F3A879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use a variable, Python searches for it in this </a:t>
            </a:r>
            <a:r>
              <a:rPr lang="en-US" b="1" dirty="0"/>
              <a:t>specific order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FFC82E-6839-AC2B-6F63-0E6209603D5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812574"/>
          <a:ext cx="10515600" cy="23774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334518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360828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87676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12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 – Local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Inside the current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variables declared inside a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113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 – Enclosing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Inside any outer (parent)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when a function is inside another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0281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 – Global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 the top level of your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variables declared outside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59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 – Built-in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Python’s built-in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IN" dirty="0"/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en-IN" dirty="0"/>
                        <a:t>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268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205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C854-EBE0-6791-8690-6577BB290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Mini Project – Object Reference Tracker</a:t>
            </a:r>
          </a:p>
          <a:p>
            <a:r>
              <a:rPr lang="en-US" b="1" dirty="0"/>
              <a:t>Task:</a:t>
            </a:r>
            <a:br>
              <a:rPr lang="en-US" dirty="0"/>
            </a:br>
            <a:r>
              <a:rPr lang="en-US" dirty="0"/>
              <a:t>Create a class Car with attribute model.</a:t>
            </a:r>
            <a:br>
              <a:rPr lang="en-US" dirty="0"/>
            </a:br>
            <a:r>
              <a:rPr lang="en-US" dirty="0"/>
              <a:t>Create two variables referring to the same object and show that changing one affects the 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591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D6805-5820-45C8-A741-07EB5F79D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Homework</a:t>
            </a:r>
          </a:p>
          <a:p>
            <a:r>
              <a:rPr lang="en-US" dirty="0"/>
              <a:t>Create a global variable </a:t>
            </a:r>
            <a:r>
              <a:rPr lang="en-US" dirty="0" err="1"/>
              <a:t>school_name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Inside a class Student, use it without redefining.</a:t>
            </a:r>
            <a:br>
              <a:rPr lang="en-US" dirty="0"/>
            </a:br>
            <a:r>
              <a:rPr lang="en-US" dirty="0"/>
              <a:t>Show the difference when you create another variable with same name inside method.</a:t>
            </a:r>
          </a:p>
          <a:p>
            <a:r>
              <a:rPr lang="en-US" dirty="0"/>
              <a:t>Write a small program to print all namespaces using locals() and </a:t>
            </a:r>
            <a:r>
              <a:rPr lang="en-US" dirty="0" err="1"/>
              <a:t>globals</a:t>
            </a:r>
            <a:r>
              <a:rPr lang="en-US" dirty="0"/>
              <a:t>().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881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FE86-3910-9410-DB58-4D364F63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6" y="114300"/>
            <a:ext cx="11309840" cy="686679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Assignment / Mini Project Question for Students</a:t>
            </a:r>
          </a:p>
          <a:p>
            <a:pPr marL="0" indent="0">
              <a:buNone/>
            </a:pPr>
            <a:r>
              <a:rPr lang="en-US" b="1" dirty="0"/>
              <a:t> Question:</a:t>
            </a:r>
          </a:p>
          <a:p>
            <a:pPr marL="0" indent="0">
              <a:buNone/>
            </a:pPr>
            <a:r>
              <a:rPr lang="en-US" b="1" dirty="0"/>
              <a:t>Project Title:</a:t>
            </a:r>
            <a:r>
              <a:rPr lang="en-US" dirty="0"/>
              <a:t> 🧑‍🎓 </a:t>
            </a:r>
            <a:r>
              <a:rPr lang="en-US" i="1" dirty="0"/>
              <a:t>Student Management System (OOP + Scope + Reference)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🎯 Aim:</a:t>
            </a:r>
          </a:p>
          <a:p>
            <a:r>
              <a:rPr lang="en-US" dirty="0"/>
              <a:t>To demonstrate the concepts of </a:t>
            </a:r>
            <a:r>
              <a:rPr lang="en-US" b="1" dirty="0"/>
              <a:t>Object-Oriented Programming</a:t>
            </a:r>
            <a:r>
              <a:rPr lang="en-US" dirty="0"/>
              <a:t>, </a:t>
            </a:r>
            <a:r>
              <a:rPr lang="en-US" b="1" dirty="0"/>
              <a:t>Namespaces and Scope</a:t>
            </a:r>
            <a:r>
              <a:rPr lang="en-US" dirty="0"/>
              <a:t>, and </a:t>
            </a:r>
            <a:r>
              <a:rPr lang="en-US" b="1" dirty="0"/>
              <a:t>Object References</a:t>
            </a:r>
            <a:r>
              <a:rPr lang="en-US" dirty="0"/>
              <a:t> using a single Python program.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 Question Description:</a:t>
            </a:r>
          </a:p>
          <a:p>
            <a:r>
              <a:rPr lang="en-US" dirty="0"/>
              <a:t>Write a Python program to create a </a:t>
            </a:r>
            <a:r>
              <a:rPr lang="en-US" b="1" dirty="0"/>
              <a:t>Student Management System</a:t>
            </a:r>
            <a:r>
              <a:rPr lang="en-US" dirty="0"/>
              <a:t> that includes the following features:</a:t>
            </a:r>
          </a:p>
          <a:p>
            <a:r>
              <a:rPr lang="en-US" b="1" dirty="0"/>
              <a:t>Create a class</a:t>
            </a:r>
            <a:r>
              <a:rPr lang="en-US" dirty="0"/>
              <a:t> Student with the following:</a:t>
            </a:r>
          </a:p>
          <a:p>
            <a:pPr lvl="1"/>
            <a:r>
              <a:rPr lang="en-US" dirty="0"/>
              <a:t>Instance variables: name, age</a:t>
            </a:r>
          </a:p>
          <a:p>
            <a:pPr lvl="1"/>
            <a:r>
              <a:rPr lang="en-US" dirty="0"/>
              <a:t>Class variable: </a:t>
            </a:r>
            <a:r>
              <a:rPr lang="en-US" dirty="0" err="1"/>
              <a:t>total_students</a:t>
            </a:r>
            <a:r>
              <a:rPr lang="en-US" dirty="0"/>
              <a:t> to count number of student objects</a:t>
            </a:r>
          </a:p>
          <a:p>
            <a:pPr lvl="1"/>
            <a:r>
              <a:rPr lang="en-US" dirty="0"/>
              <a:t>Global variable: </a:t>
            </a:r>
            <a:r>
              <a:rPr lang="en-US" dirty="0" err="1"/>
              <a:t>school_name</a:t>
            </a:r>
            <a:r>
              <a:rPr lang="en-US" dirty="0"/>
              <a:t> (taken as user input before class definition)</a:t>
            </a:r>
          </a:p>
          <a:p>
            <a:pPr lvl="1"/>
            <a:r>
              <a:rPr lang="en-US" dirty="0"/>
              <a:t>Methods:</a:t>
            </a:r>
          </a:p>
          <a:p>
            <a:pPr lvl="2"/>
            <a:r>
              <a:rPr lang="en-US" dirty="0" err="1"/>
              <a:t>show_details</a:t>
            </a:r>
            <a:r>
              <a:rPr lang="en-US" dirty="0"/>
              <a:t>() → to display student name, age, and global school name</a:t>
            </a:r>
          </a:p>
          <a:p>
            <a:pPr lvl="2"/>
            <a:r>
              <a:rPr lang="en-US" dirty="0" err="1"/>
              <a:t>redefine_school</a:t>
            </a:r>
            <a:r>
              <a:rPr lang="en-US" dirty="0"/>
              <a:t>() → to redefine a </a:t>
            </a:r>
            <a:r>
              <a:rPr lang="en-US" i="1" dirty="0"/>
              <a:t>local</a:t>
            </a:r>
            <a:r>
              <a:rPr lang="en-US" dirty="0"/>
              <a:t> school name and display difference between local and global names</a:t>
            </a:r>
          </a:p>
          <a:p>
            <a:pPr lvl="2"/>
            <a:r>
              <a:rPr lang="en-US" dirty="0" err="1"/>
              <a:t>show_namespaces</a:t>
            </a:r>
            <a:r>
              <a:rPr lang="en-US" dirty="0"/>
              <a:t>() → to display local and global namespaces using locals() and </a:t>
            </a:r>
            <a:r>
              <a:rPr lang="en-US" dirty="0" err="1"/>
              <a:t>globals</a:t>
            </a:r>
            <a:r>
              <a:rPr lang="en-US" dirty="0"/>
              <a:t>()</a:t>
            </a:r>
          </a:p>
          <a:p>
            <a:r>
              <a:rPr lang="en-US" b="1" dirty="0"/>
              <a:t>Create two reference variables</a:t>
            </a:r>
            <a:r>
              <a:rPr lang="en-US" dirty="0"/>
              <a:t> (s1 and s2) pointing to the </a:t>
            </a:r>
            <a:r>
              <a:rPr lang="en-US" b="1" dirty="0"/>
              <a:t>same object</a:t>
            </a:r>
            <a:r>
              <a:rPr lang="en-US" dirty="0"/>
              <a:t> and show that changing one affects the other.</a:t>
            </a:r>
          </a:p>
          <a:p>
            <a:r>
              <a:rPr lang="en-US" b="1" dirty="0"/>
              <a:t>Take user input</a:t>
            </a:r>
            <a:r>
              <a:rPr lang="en-US" dirty="0"/>
              <a:t> for:</a:t>
            </a:r>
          </a:p>
          <a:p>
            <a:pPr lvl="1"/>
            <a:r>
              <a:rPr lang="en-US" dirty="0"/>
              <a:t>Global school name</a:t>
            </a:r>
          </a:p>
          <a:p>
            <a:pPr lvl="1"/>
            <a:r>
              <a:rPr lang="en-US" dirty="0"/>
              <a:t>Student name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Updated age (to show object reference effect)</a:t>
            </a:r>
          </a:p>
          <a:p>
            <a:pPr lvl="1"/>
            <a:r>
              <a:rPr lang="en-US" dirty="0"/>
              <a:t>Local school name (inside method)</a:t>
            </a:r>
          </a:p>
          <a:p>
            <a:r>
              <a:rPr lang="en-US" b="1" dirty="0"/>
              <a:t>Display output</a:t>
            </a:r>
            <a:r>
              <a:rPr lang="en-US" dirty="0"/>
              <a:t> clearly showing:</a:t>
            </a:r>
          </a:p>
          <a:p>
            <a:pPr lvl="1"/>
            <a:r>
              <a:rPr lang="en-US" dirty="0"/>
              <a:t>Before and after update of student age</a:t>
            </a:r>
          </a:p>
          <a:p>
            <a:pPr lvl="1"/>
            <a:r>
              <a:rPr lang="en-US" dirty="0"/>
              <a:t>Memory address of both references (id(s1) and id(s2))</a:t>
            </a:r>
          </a:p>
          <a:p>
            <a:pPr lvl="1"/>
            <a:r>
              <a:rPr lang="en-US" dirty="0"/>
              <a:t>Global and Local namespaces</a:t>
            </a:r>
          </a:p>
          <a:p>
            <a:pPr lvl="1"/>
            <a:r>
              <a:rPr lang="en-US" dirty="0"/>
              <a:t>Total number of student objects</a:t>
            </a:r>
          </a:p>
        </p:txBody>
      </p:sp>
    </p:spTree>
    <p:extLst>
      <p:ext uri="{BB962C8B-B14F-4D97-AF65-F5344CB8AC3E}">
        <p14:creationId xmlns:p14="http://schemas.microsoft.com/office/powerpoint/2010/main" val="1707390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D2D1F-7982-CFC3-4F7F-6B2577EF0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69" y="322141"/>
            <a:ext cx="11101754" cy="609624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Enter Global School Name: AWH Engineering College</a:t>
            </a:r>
          </a:p>
          <a:p>
            <a:pPr marL="0" indent="0">
              <a:buNone/>
            </a:pPr>
            <a:r>
              <a:rPr lang="en-IN" dirty="0"/>
              <a:t>Enter Student Name: Anas</a:t>
            </a:r>
          </a:p>
          <a:p>
            <a:pPr marL="0" indent="0">
              <a:buNone/>
            </a:pPr>
            <a:r>
              <a:rPr lang="en-IN" dirty="0"/>
              <a:t>Enter Age: 21</a:t>
            </a:r>
          </a:p>
          <a:p>
            <a:pPr marL="0" indent="0">
              <a:buNone/>
            </a:pPr>
            <a:r>
              <a:rPr lang="en-IN" dirty="0"/>
              <a:t>Before updating:</a:t>
            </a:r>
          </a:p>
          <a:p>
            <a:pPr marL="0" indent="0">
              <a:buNone/>
            </a:pPr>
            <a:r>
              <a:rPr lang="en-IN" dirty="0"/>
              <a:t>Student Name: Anas</a:t>
            </a:r>
          </a:p>
          <a:p>
            <a:pPr marL="0" indent="0">
              <a:buNone/>
            </a:pPr>
            <a:r>
              <a:rPr lang="en-IN" dirty="0"/>
              <a:t>Age: 21</a:t>
            </a:r>
          </a:p>
          <a:p>
            <a:pPr marL="0" indent="0">
              <a:buNone/>
            </a:pPr>
            <a:r>
              <a:rPr lang="en-IN" dirty="0"/>
              <a:t>School: AWH Engineering College</a:t>
            </a:r>
          </a:p>
          <a:p>
            <a:pPr marL="0" indent="0">
              <a:buNone/>
            </a:pPr>
            <a:r>
              <a:rPr lang="en-IN" dirty="0"/>
              <a:t>Enter new age to update through second reference: 22</a:t>
            </a:r>
          </a:p>
          <a:p>
            <a:pPr marL="0" indent="0">
              <a:buNone/>
            </a:pPr>
            <a:r>
              <a:rPr lang="en-IN" dirty="0"/>
              <a:t>After updating:</a:t>
            </a:r>
          </a:p>
          <a:p>
            <a:pPr marL="0" indent="0">
              <a:buNone/>
            </a:pPr>
            <a:r>
              <a:rPr lang="en-IN" dirty="0"/>
              <a:t>Student Name: Anas</a:t>
            </a:r>
          </a:p>
          <a:p>
            <a:pPr marL="0" indent="0">
              <a:buNone/>
            </a:pPr>
            <a:r>
              <a:rPr lang="en-IN" dirty="0"/>
              <a:t>Age: 22</a:t>
            </a:r>
          </a:p>
          <a:p>
            <a:pPr marL="0" indent="0">
              <a:buNone/>
            </a:pPr>
            <a:r>
              <a:rPr lang="en-IN" dirty="0"/>
              <a:t>School: AWH Engineering College</a:t>
            </a:r>
          </a:p>
          <a:p>
            <a:pPr marL="0" indent="0">
              <a:buNone/>
            </a:pPr>
            <a:r>
              <a:rPr lang="en-IN" dirty="0"/>
              <a:t>Memory ID of s1: 1703386113376</a:t>
            </a:r>
          </a:p>
          <a:p>
            <a:pPr marL="0" indent="0">
              <a:buNone/>
            </a:pPr>
            <a:r>
              <a:rPr lang="en-IN" dirty="0"/>
              <a:t>Memory ID of s2: 1703386113376</a:t>
            </a:r>
          </a:p>
          <a:p>
            <a:pPr marL="0" indent="0">
              <a:buNone/>
            </a:pPr>
            <a:r>
              <a:rPr lang="en-IN" dirty="0"/>
              <a:t>Enter a local school name for Anas: MES College</a:t>
            </a:r>
          </a:p>
          <a:p>
            <a:pPr marL="0" indent="0">
              <a:buNone/>
            </a:pPr>
            <a:r>
              <a:rPr lang="en-IN" dirty="0"/>
              <a:t>Anas studies in (Local): MES College</a:t>
            </a:r>
          </a:p>
          <a:p>
            <a:pPr marL="0" indent="0">
              <a:buNone/>
            </a:pPr>
            <a:r>
              <a:rPr lang="en-IN" dirty="0"/>
              <a:t>Outside (Global) School still: AWH Engineering College</a:t>
            </a:r>
          </a:p>
          <a:p>
            <a:pPr marL="0" indent="0">
              <a:buNone/>
            </a:pPr>
            <a:r>
              <a:rPr lang="en-IN" dirty="0"/>
              <a:t>--- Local Namespace ---</a:t>
            </a:r>
          </a:p>
          <a:p>
            <a:pPr marL="0" indent="0">
              <a:buNone/>
            </a:pPr>
            <a:r>
              <a:rPr lang="en-IN" dirty="0"/>
              <a:t>{'</a:t>
            </a:r>
            <a:r>
              <a:rPr lang="en-IN" dirty="0" err="1"/>
              <a:t>school_name</a:t>
            </a:r>
            <a:r>
              <a:rPr lang="en-IN" dirty="0"/>
              <a:t>': 'MES College', 'self': &lt;__</a:t>
            </a:r>
            <a:r>
              <a:rPr lang="en-IN" dirty="0" err="1"/>
              <a:t>main__.Student</a:t>
            </a:r>
            <a:r>
              <a:rPr lang="en-IN" dirty="0"/>
              <a:t> object at 0x000001A8C8D0BFD0&gt;}</a:t>
            </a:r>
          </a:p>
          <a:p>
            <a:pPr marL="0" indent="0">
              <a:buNone/>
            </a:pPr>
            <a:r>
              <a:rPr lang="en-IN" dirty="0"/>
              <a:t>--- Global Namespace Keys ---</a:t>
            </a:r>
          </a:p>
          <a:p>
            <a:pPr marL="0" indent="0">
              <a:buNone/>
            </a:pPr>
            <a:r>
              <a:rPr lang="en-IN" dirty="0"/>
              <a:t>['__name__', '__doc__', '</a:t>
            </a:r>
            <a:r>
              <a:rPr lang="en-IN" dirty="0" err="1"/>
              <a:t>school_name</a:t>
            </a:r>
            <a:r>
              <a:rPr lang="en-IN" dirty="0"/>
              <a:t>', 'Student', 'name1', 'age1', ...]</a:t>
            </a:r>
          </a:p>
          <a:p>
            <a:pPr marL="0" indent="0">
              <a:buNone/>
            </a:pPr>
            <a:r>
              <a:rPr lang="en-IN" dirty="0"/>
              <a:t>Total Students Created: 1</a:t>
            </a:r>
          </a:p>
        </p:txBody>
      </p:sp>
    </p:spTree>
    <p:extLst>
      <p:ext uri="{BB962C8B-B14F-4D97-AF65-F5344CB8AC3E}">
        <p14:creationId xmlns:p14="http://schemas.microsoft.com/office/powerpoint/2010/main" val="3875441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3107-06C1-12C5-F6DE-340E4B87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4 – Inheritance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39CC4-D46B-A356-7918-C6C2E87FA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Session Goal</a:t>
            </a:r>
          </a:p>
          <a:p>
            <a:r>
              <a:rPr lang="en-US" dirty="0"/>
              <a:t>By the end of this session, students will be able to:</a:t>
            </a:r>
          </a:p>
          <a:p>
            <a:r>
              <a:rPr lang="en-US" dirty="0"/>
              <a:t>Understand what </a:t>
            </a:r>
            <a:r>
              <a:rPr lang="en-US" b="1" dirty="0"/>
              <a:t>inheritance</a:t>
            </a:r>
            <a:r>
              <a:rPr lang="en-US" dirty="0"/>
              <a:t> is and why it’s used.</a:t>
            </a:r>
          </a:p>
          <a:p>
            <a:r>
              <a:rPr lang="en-US" dirty="0"/>
              <a:t>Create </a:t>
            </a:r>
            <a:r>
              <a:rPr lang="en-US" b="1" dirty="0"/>
              <a:t>parent</a:t>
            </a:r>
            <a:r>
              <a:rPr lang="en-US" dirty="0"/>
              <a:t> and </a:t>
            </a:r>
            <a:r>
              <a:rPr lang="en-US" b="1" dirty="0"/>
              <a:t>child classes</a:t>
            </a:r>
            <a:r>
              <a:rPr lang="en-US" dirty="0"/>
              <a:t>.</a:t>
            </a:r>
          </a:p>
          <a:p>
            <a:r>
              <a:rPr lang="en-US" dirty="0"/>
              <a:t>Use super() to access parent properties.</a:t>
            </a:r>
          </a:p>
          <a:p>
            <a:r>
              <a:rPr lang="en-US" dirty="0"/>
              <a:t>Recognize </a:t>
            </a:r>
            <a:r>
              <a:rPr lang="en-US" b="1" dirty="0"/>
              <a:t>types of inheritance</a:t>
            </a:r>
            <a:r>
              <a:rPr lang="en-US" dirty="0"/>
              <a:t> with examples.</a:t>
            </a:r>
          </a:p>
          <a:p>
            <a:r>
              <a:rPr lang="en-US" dirty="0"/>
              <a:t>Apply inheritance in a </a:t>
            </a:r>
            <a:r>
              <a:rPr lang="en-US" b="1" dirty="0"/>
              <a:t>mini project</a:t>
            </a:r>
            <a:r>
              <a:rPr lang="en-US" dirty="0"/>
              <a:t> and </a:t>
            </a:r>
            <a:r>
              <a:rPr lang="en-US" b="1" dirty="0"/>
              <a:t>homework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80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E2C6A-3091-94D7-4A76-90EE92BC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Concept: What is Inheritance?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4CB38-8975-FA2D-AD52-60A01411B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allows one class (child / derived class) to </a:t>
            </a:r>
            <a:r>
              <a:rPr lang="en-US" b="1" dirty="0"/>
              <a:t>reuse</a:t>
            </a:r>
            <a:r>
              <a:rPr lang="en-US" dirty="0"/>
              <a:t> the properties and methods of another class (parent / base class).</a:t>
            </a:r>
          </a:p>
          <a:p>
            <a:r>
              <a:rPr lang="en-US" dirty="0"/>
              <a:t>It helps in </a:t>
            </a:r>
            <a:r>
              <a:rPr lang="en-US" b="1" dirty="0"/>
              <a:t>code reusability</a:t>
            </a:r>
            <a:r>
              <a:rPr lang="en-US" dirty="0"/>
              <a:t> and </a:t>
            </a:r>
            <a:r>
              <a:rPr lang="en-US" b="1" dirty="0"/>
              <a:t>hierarchical structure</a:t>
            </a:r>
            <a:r>
              <a:rPr lang="en-US" dirty="0"/>
              <a:t> in OOP.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500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2DEC-4E8C-09FB-9507-E010C5B4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Inheritance?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80181A-3360-A867-FE83-9657398C7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3088788"/>
              </p:ext>
            </p:extLst>
          </p:nvPr>
        </p:nvGraphicFramePr>
        <p:xfrm>
          <a:off x="624254" y="2497015"/>
          <a:ext cx="10729546" cy="2235800"/>
        </p:xfrm>
        <a:graphic>
          <a:graphicData uri="http://schemas.openxmlformats.org/drawingml/2006/table">
            <a:tbl>
              <a:tblPr/>
              <a:tblGrid>
                <a:gridCol w="5364773">
                  <a:extLst>
                    <a:ext uri="{9D8B030D-6E8A-4147-A177-3AD203B41FA5}">
                      <a16:colId xmlns:a16="http://schemas.microsoft.com/office/drawing/2014/main" val="1398875752"/>
                    </a:ext>
                  </a:extLst>
                </a:gridCol>
                <a:gridCol w="5364773">
                  <a:extLst>
                    <a:ext uri="{9D8B030D-6E8A-4147-A177-3AD203B41FA5}">
                      <a16:colId xmlns:a16="http://schemas.microsoft.com/office/drawing/2014/main" val="1691388390"/>
                    </a:ext>
                  </a:extLst>
                </a:gridCol>
              </a:tblGrid>
              <a:tr h="5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408220"/>
                  </a:ext>
                </a:extLst>
              </a:tr>
              <a:tr h="5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 Reusability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Don’t rewrite common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752861"/>
                  </a:ext>
                </a:extLst>
              </a:tr>
              <a:tr h="5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Extensibility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new features in child class easily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66528"/>
                  </a:ext>
                </a:extLst>
              </a:tr>
              <a:tr h="5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Makes large projects cleaner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00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282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65E3-D012-7FD8-37C5-5F855234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Inheritance in Python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2998D-DA86-9F5A-0B81-221C42CB95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997140"/>
              </p:ext>
            </p:extLst>
          </p:nvPr>
        </p:nvGraphicFramePr>
        <p:xfrm>
          <a:off x="430823" y="2092569"/>
          <a:ext cx="9762866" cy="3006006"/>
        </p:xfrm>
        <a:graphic>
          <a:graphicData uri="http://schemas.openxmlformats.org/drawingml/2006/table">
            <a:tbl>
              <a:tblPr/>
              <a:tblGrid>
                <a:gridCol w="2480882">
                  <a:extLst>
                    <a:ext uri="{9D8B030D-6E8A-4147-A177-3AD203B41FA5}">
                      <a16:colId xmlns:a16="http://schemas.microsoft.com/office/drawing/2014/main" val="643589913"/>
                    </a:ext>
                  </a:extLst>
                </a:gridCol>
                <a:gridCol w="3640992">
                  <a:extLst>
                    <a:ext uri="{9D8B030D-6E8A-4147-A177-3AD203B41FA5}">
                      <a16:colId xmlns:a16="http://schemas.microsoft.com/office/drawing/2014/main" val="1978957704"/>
                    </a:ext>
                  </a:extLst>
                </a:gridCol>
                <a:gridCol w="3640992">
                  <a:extLst>
                    <a:ext uri="{9D8B030D-6E8A-4147-A177-3AD203B41FA5}">
                      <a16:colId xmlns:a16="http://schemas.microsoft.com/office/drawing/2014/main" val="957204150"/>
                    </a:ext>
                  </a:extLst>
                </a:gridCol>
              </a:tblGrid>
              <a:tr h="50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966566"/>
                  </a:ext>
                </a:extLst>
              </a:tr>
              <a:tr h="50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Single Inheritance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parent → one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 → 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84123"/>
                  </a:ext>
                </a:extLst>
              </a:tr>
              <a:tr h="50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Multilevel Inheritance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Parent → Child → Grandchild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 → Employee →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142661"/>
                  </a:ext>
                </a:extLst>
              </a:tr>
              <a:tr h="50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Multiple Inheritance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Child inherits from multiple parents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 + Athlete → Scholar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924575"/>
                  </a:ext>
                </a:extLst>
              </a:tr>
              <a:tr h="50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Hierarchical Inheritance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 parent → multiple children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 → Student, Teacher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865937"/>
                  </a:ext>
                </a:extLst>
              </a:tr>
              <a:tr h="501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Hybrid Inheritance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Combination of above 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Mix of multiple and multilevel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567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744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75FD7F-01BF-EE49-CF6C-1273B2D50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self in Python?</a:t>
            </a:r>
          </a:p>
          <a:p>
            <a:r>
              <a:rPr lang="en-US" dirty="0"/>
              <a:t>🔹 self refers to </a:t>
            </a:r>
            <a:r>
              <a:rPr lang="en-US" b="1" dirty="0"/>
              <a:t>the current object (instance)</a:t>
            </a:r>
            <a:r>
              <a:rPr lang="en-US" dirty="0"/>
              <a:t> of a class.</a:t>
            </a:r>
          </a:p>
          <a:p>
            <a:r>
              <a:rPr lang="en-US" dirty="0"/>
              <a:t>It is used to </a:t>
            </a:r>
            <a:r>
              <a:rPr lang="en-US" b="1" dirty="0"/>
              <a:t>access variables and methods</a:t>
            </a:r>
            <a:r>
              <a:rPr lang="en-US" dirty="0"/>
              <a:t> that belong to the same object.</a:t>
            </a:r>
          </a:p>
          <a:p>
            <a:r>
              <a:rPr lang="en-US" dirty="0"/>
              <a:t>Simply put:</a:t>
            </a:r>
          </a:p>
          <a:p>
            <a:r>
              <a:rPr lang="en-US" dirty="0"/>
              <a:t>When you create an object → self points to </a:t>
            </a:r>
            <a:r>
              <a:rPr lang="en-US" i="1" dirty="0"/>
              <a:t>that</a:t>
            </a:r>
            <a:r>
              <a:rPr lang="en-US" dirty="0"/>
              <a:t> object.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0666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5CCAF-5384-F7CF-3C0F-05BEDB1EE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DC84F-9B6F-D671-52B6-E392A3DC4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Use super()</a:t>
            </a:r>
          </a:p>
          <a:p>
            <a:r>
              <a:rPr lang="en-US" dirty="0"/>
              <a:t>Calls the parent constructor/method.</a:t>
            </a:r>
          </a:p>
          <a:p>
            <a:r>
              <a:rPr lang="en-US" dirty="0"/>
              <a:t>Avoids code repetition.</a:t>
            </a:r>
          </a:p>
          <a:p>
            <a:pPr marL="0" indent="0">
              <a:buNone/>
            </a:pPr>
            <a:r>
              <a:rPr lang="en-US" dirty="0"/>
              <a:t>Works properly in </a:t>
            </a:r>
            <a:r>
              <a:rPr lang="en-US" b="1" dirty="0"/>
              <a:t>multiple inheritance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 Used when parent class has attributes that must be initialized.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773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3711-D633-8575-1C9B-52965574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Mini Project – Employee Payroll System (Inheritance)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6DA5E-F2B8-310C-6230-E7191C2FD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Task:</a:t>
            </a:r>
          </a:p>
          <a:p>
            <a:r>
              <a:rPr lang="en-US" dirty="0"/>
              <a:t>Create a base class Employee and a derived class </a:t>
            </a:r>
            <a:r>
              <a:rPr lang="en-US" dirty="0" err="1"/>
              <a:t>FullTimeEmployee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Ask the user for details and calculate the salary based on working days.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830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91A9-1101-7161-5BFF-96076749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Homework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B05AB-14D3-12F7-935F-F571261B0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977" y="161461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Question:</a:t>
            </a:r>
          </a:p>
          <a:p>
            <a:r>
              <a:rPr lang="en-US" dirty="0"/>
              <a:t>Create a base class </a:t>
            </a:r>
            <a:r>
              <a:rPr lang="en-US" dirty="0" err="1"/>
              <a:t>BankAccount</a:t>
            </a:r>
            <a:r>
              <a:rPr lang="en-US" dirty="0"/>
              <a:t> with attributes </a:t>
            </a:r>
            <a:r>
              <a:rPr lang="en-US" dirty="0" err="1"/>
              <a:t>account_holder</a:t>
            </a:r>
            <a:r>
              <a:rPr lang="en-US" dirty="0"/>
              <a:t> and balance.</a:t>
            </a:r>
            <a:br>
              <a:rPr lang="en-US" dirty="0"/>
            </a:br>
            <a:r>
              <a:rPr lang="en-US" dirty="0"/>
              <a:t>Create a child class </a:t>
            </a:r>
            <a:r>
              <a:rPr lang="en-US" dirty="0" err="1"/>
              <a:t>SavingsAccount</a:t>
            </a:r>
            <a:r>
              <a:rPr lang="en-US" dirty="0"/>
              <a:t> that adds a method to calculate interest.</a:t>
            </a:r>
            <a:br>
              <a:rPr lang="en-US" dirty="0"/>
            </a:br>
            <a:r>
              <a:rPr lang="en-US" dirty="0"/>
              <a:t>Take user input and show:</a:t>
            </a:r>
          </a:p>
          <a:p>
            <a:r>
              <a:rPr lang="en-US" dirty="0"/>
              <a:t>Account holder name</a:t>
            </a:r>
          </a:p>
          <a:p>
            <a:r>
              <a:rPr lang="en-US" dirty="0"/>
              <a:t>Balance</a:t>
            </a:r>
          </a:p>
          <a:p>
            <a:r>
              <a:rPr lang="en-US" dirty="0"/>
              <a:t>Interest amount after 1 year (e.g., 5%)</a:t>
            </a:r>
          </a:p>
          <a:p>
            <a:pPr marL="0" indent="0">
              <a:buNone/>
            </a:pPr>
            <a:r>
              <a:rPr lang="en-US" dirty="0"/>
              <a:t>     			</a:t>
            </a:r>
          </a:p>
          <a:p>
            <a:pPr marL="0" indent="0">
              <a:buNone/>
            </a:pPr>
            <a:r>
              <a:rPr lang="en-US" dirty="0"/>
              <a:t>interest = (</a:t>
            </a:r>
            <a:r>
              <a:rPr lang="en-US" dirty="0" err="1"/>
              <a:t>self.balance</a:t>
            </a:r>
            <a:r>
              <a:rPr lang="en-US" dirty="0"/>
              <a:t> * rate) / 100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4830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51B5-96FB-8A68-66D7-30272E29B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Session 5 – Polymorphism &amp; Method Overriding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A732-FD95-5A59-F7C0-B457A64E8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Session Goal</a:t>
            </a:r>
          </a:p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r>
              <a:rPr lang="en-US" dirty="0"/>
              <a:t>Understand what </a:t>
            </a:r>
            <a:r>
              <a:rPr lang="en-US" b="1" dirty="0"/>
              <a:t>polymorphism</a:t>
            </a:r>
            <a:r>
              <a:rPr lang="en-US" dirty="0"/>
              <a:t> means.</a:t>
            </a:r>
          </a:p>
          <a:p>
            <a:r>
              <a:rPr lang="en-US" dirty="0"/>
              <a:t>Differentiate between </a:t>
            </a:r>
            <a:r>
              <a:rPr lang="en-US" b="1" dirty="0"/>
              <a:t>compile-time</a:t>
            </a:r>
            <a:r>
              <a:rPr lang="en-US" dirty="0"/>
              <a:t> and </a:t>
            </a:r>
            <a:r>
              <a:rPr lang="en-US" b="1" dirty="0"/>
              <a:t>runtime</a:t>
            </a:r>
            <a:r>
              <a:rPr lang="en-US" dirty="0"/>
              <a:t> polymorphism.</a:t>
            </a:r>
          </a:p>
          <a:p>
            <a:r>
              <a:rPr lang="en-US" dirty="0"/>
              <a:t>Implement </a:t>
            </a:r>
            <a:r>
              <a:rPr lang="en-US" b="1" dirty="0"/>
              <a:t>method overriding</a:t>
            </a:r>
            <a:r>
              <a:rPr lang="en-US" dirty="0"/>
              <a:t> in Python.</a:t>
            </a:r>
          </a:p>
          <a:p>
            <a:r>
              <a:rPr lang="en-US" dirty="0"/>
              <a:t>Use </a:t>
            </a:r>
            <a:r>
              <a:rPr lang="en-US" b="1" dirty="0"/>
              <a:t>super()</a:t>
            </a:r>
            <a:r>
              <a:rPr lang="en-US" dirty="0"/>
              <a:t> to call parent methods.</a:t>
            </a:r>
          </a:p>
          <a:p>
            <a:r>
              <a:rPr lang="en-US" dirty="0"/>
              <a:t>Build a </a:t>
            </a:r>
            <a:r>
              <a:rPr lang="en-US" b="1" dirty="0"/>
              <a:t>mini-project</a:t>
            </a:r>
            <a:r>
              <a:rPr lang="en-US" dirty="0"/>
              <a:t> using polymorphism.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2136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221F-CABB-9518-D3A8-12F747CB2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Polymorphism?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A73CD-F5A4-2ED8-EC10-6A7774267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</a:t>
            </a:r>
            <a:r>
              <a:rPr lang="en-US" i="1" dirty="0"/>
              <a:t>polymorphism</a:t>
            </a:r>
            <a:r>
              <a:rPr lang="en-US" dirty="0"/>
              <a:t> means </a:t>
            </a:r>
            <a:r>
              <a:rPr lang="en-US" b="1" dirty="0"/>
              <a:t>“many forms.”</a:t>
            </a:r>
            <a:endParaRPr lang="en-US" dirty="0"/>
          </a:p>
          <a:p>
            <a:r>
              <a:rPr lang="en-US" dirty="0"/>
              <a:t>In Python OOP, it means the same function or method name can </a:t>
            </a:r>
            <a:r>
              <a:rPr lang="en-US" b="1" dirty="0"/>
              <a:t>behave differently</a:t>
            </a:r>
            <a:r>
              <a:rPr lang="en-US" dirty="0"/>
              <a:t> depending on the object or situation.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518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1B73E-54A5-B53E-8C5E-B48EF2532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Polymorphism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FAD84A-C0ED-652B-784A-4E072104F4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380422"/>
              </p:ext>
            </p:extLst>
          </p:nvPr>
        </p:nvGraphicFramePr>
        <p:xfrm>
          <a:off x="509954" y="2479431"/>
          <a:ext cx="10843845" cy="2344824"/>
        </p:xfrm>
        <a:graphic>
          <a:graphicData uri="http://schemas.openxmlformats.org/drawingml/2006/table">
            <a:tbl>
              <a:tblPr/>
              <a:tblGrid>
                <a:gridCol w="3614615">
                  <a:extLst>
                    <a:ext uri="{9D8B030D-6E8A-4147-A177-3AD203B41FA5}">
                      <a16:colId xmlns:a16="http://schemas.microsoft.com/office/drawing/2014/main" val="1923351068"/>
                    </a:ext>
                  </a:extLst>
                </a:gridCol>
                <a:gridCol w="3614615">
                  <a:extLst>
                    <a:ext uri="{9D8B030D-6E8A-4147-A177-3AD203B41FA5}">
                      <a16:colId xmlns:a16="http://schemas.microsoft.com/office/drawing/2014/main" val="3268762949"/>
                    </a:ext>
                  </a:extLst>
                </a:gridCol>
                <a:gridCol w="3614615">
                  <a:extLst>
                    <a:ext uri="{9D8B030D-6E8A-4147-A177-3AD203B41FA5}">
                      <a16:colId xmlns:a16="http://schemas.microsoft.com/office/drawing/2014/main" val="3455428159"/>
                    </a:ext>
                  </a:extLst>
                </a:gridCol>
              </a:tblGrid>
              <a:tr h="521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983440"/>
                  </a:ext>
                </a:extLst>
              </a:tr>
              <a:tr h="911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Compile-time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 overloading (not supported directly in 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function with different 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908945"/>
                  </a:ext>
                </a:extLst>
              </a:tr>
              <a:tr h="911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Runtime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 overriding (supported in 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Same method re-defined in child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80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853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12AB-6602-A1D7-493D-BEE8D9D9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6FE8-5816-FE1E-4610-F68B165F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</a:t>
            </a:r>
            <a:r>
              <a:rPr lang="en-US" b="1" dirty="0"/>
              <a:t>child class</a:t>
            </a:r>
            <a:r>
              <a:rPr lang="en-US" dirty="0"/>
              <a:t> defines a method with the </a:t>
            </a:r>
            <a:r>
              <a:rPr lang="en-US" b="1" dirty="0"/>
              <a:t>same name as parent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child’s version overrides</a:t>
            </a:r>
            <a:r>
              <a:rPr lang="en-US" dirty="0"/>
              <a:t> the parent’s method.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79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AEE7-7F3C-20AF-3488-1382EFA8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Project – Shape Area Calculator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9111-4FB2-31A8-09CF-8CE2B0BB7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base class Shape and child classes Rectangle and Circle.</a:t>
            </a:r>
            <a:br>
              <a:rPr lang="en-US" dirty="0"/>
            </a:br>
            <a:r>
              <a:rPr lang="en-US" dirty="0"/>
              <a:t>Each class should have an area() method (polymorphism).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3660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AB71-D967-1A17-6464-1BEDCAD7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B19B-6FFC-77A0-B767-36AE445F8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base class Employee with method </a:t>
            </a:r>
            <a:r>
              <a:rPr lang="en-US" dirty="0" err="1"/>
              <a:t>calculate_salary</a:t>
            </a:r>
            <a:r>
              <a:rPr lang="en-US" dirty="0"/>
              <a:t>().</a:t>
            </a:r>
            <a:br>
              <a:rPr lang="en-US" dirty="0"/>
            </a:br>
            <a:r>
              <a:rPr lang="en-US" dirty="0"/>
              <a:t>Create two child classes </a:t>
            </a:r>
            <a:r>
              <a:rPr lang="en-US" dirty="0" err="1"/>
              <a:t>FullTimeEmployee</a:t>
            </a:r>
            <a:r>
              <a:rPr lang="en-US" dirty="0"/>
              <a:t> and </a:t>
            </a:r>
            <a:r>
              <a:rPr lang="en-US" dirty="0" err="1"/>
              <a:t>PartTimeEmployee</a:t>
            </a:r>
            <a:r>
              <a:rPr lang="en-US" dirty="0"/>
              <a:t> that </a:t>
            </a:r>
            <a:r>
              <a:rPr lang="en-US" b="1" dirty="0"/>
              <a:t>override</a:t>
            </a:r>
            <a:r>
              <a:rPr lang="en-US" dirty="0"/>
              <a:t> this method to calculate salary differently.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Output:-</a:t>
            </a:r>
          </a:p>
          <a:p>
            <a:pPr marL="0" indent="0">
              <a:buNone/>
            </a:pPr>
            <a:r>
              <a:rPr lang="en-US" dirty="0"/>
              <a:t>	Enter employee type: </a:t>
            </a:r>
            <a:r>
              <a:rPr lang="en-US" dirty="0" err="1"/>
              <a:t>FullTime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Salary = 40000</a:t>
            </a:r>
          </a:p>
          <a:p>
            <a:pPr marL="0" indent="0">
              <a:buNone/>
            </a:pPr>
            <a:r>
              <a:rPr lang="en-US" dirty="0"/>
              <a:t>	Enter employee type: </a:t>
            </a:r>
            <a:r>
              <a:rPr lang="en-US" dirty="0" err="1"/>
              <a:t>PartTime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Salary = 10000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624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CAC2CE-8985-2EB3-80CB-682365201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0192639"/>
              </p:ext>
            </p:extLst>
          </p:nvPr>
        </p:nvGraphicFramePr>
        <p:xfrm>
          <a:off x="254977" y="905608"/>
          <a:ext cx="11098824" cy="4192968"/>
        </p:xfrm>
        <a:graphic>
          <a:graphicData uri="http://schemas.openxmlformats.org/drawingml/2006/table">
            <a:tbl>
              <a:tblPr/>
              <a:tblGrid>
                <a:gridCol w="5549412">
                  <a:extLst>
                    <a:ext uri="{9D8B030D-6E8A-4147-A177-3AD203B41FA5}">
                      <a16:colId xmlns:a16="http://schemas.microsoft.com/office/drawing/2014/main" val="2938094006"/>
                    </a:ext>
                  </a:extLst>
                </a:gridCol>
                <a:gridCol w="5549412">
                  <a:extLst>
                    <a:ext uri="{9D8B030D-6E8A-4147-A177-3AD203B41FA5}">
                      <a16:colId xmlns:a16="http://schemas.microsoft.com/office/drawing/2014/main" val="619174487"/>
                    </a:ext>
                  </a:extLst>
                </a:gridCol>
              </a:tblGrid>
              <a:tr h="69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87725"/>
                  </a:ext>
                </a:extLst>
              </a:tr>
              <a:tr h="69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Polymorphism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function behaves differently for different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915321"/>
                  </a:ext>
                </a:extLst>
              </a:tr>
              <a:tr h="69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Method Overriding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Redefining parent method in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017717"/>
                  </a:ext>
                </a:extLst>
              </a:tr>
              <a:tr h="69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super()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to call parent version of the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0508"/>
                  </a:ext>
                </a:extLst>
              </a:tr>
              <a:tr h="69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Mini Project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Shape Area Calculator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699854"/>
                  </a:ext>
                </a:extLst>
              </a:tr>
              <a:tr h="698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Homework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Salary Calculation with overriding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39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61919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1294-6E42-8EAF-11E4-91590876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6 – Encapsulation &amp;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3B4C-C381-ABFE-30A4-AAE77D19D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Session Goal</a:t>
            </a:r>
          </a:p>
          <a:p>
            <a:pPr marL="0" indent="0">
              <a:buNone/>
            </a:pPr>
            <a:r>
              <a:rPr lang="en-US" dirty="0"/>
              <a:t>By the end of this session, students will:</a:t>
            </a:r>
          </a:p>
          <a:p>
            <a:r>
              <a:rPr lang="en-US" dirty="0"/>
              <a:t>Understand what </a:t>
            </a:r>
            <a:r>
              <a:rPr lang="en-US" b="1" dirty="0"/>
              <a:t>Encapsulation</a:t>
            </a:r>
            <a:r>
              <a:rPr lang="en-US" dirty="0"/>
              <a:t> and </a:t>
            </a:r>
            <a:r>
              <a:rPr lang="en-US" b="1" dirty="0"/>
              <a:t>Abstraction</a:t>
            </a:r>
            <a:r>
              <a:rPr lang="en-US" dirty="0"/>
              <a:t> mean.</a:t>
            </a:r>
          </a:p>
          <a:p>
            <a:r>
              <a:rPr lang="en-US" dirty="0"/>
              <a:t>Learn how to </a:t>
            </a:r>
            <a:r>
              <a:rPr lang="en-US" b="1" dirty="0"/>
              <a:t>protect data</a:t>
            </a:r>
            <a:r>
              <a:rPr lang="en-US" dirty="0"/>
              <a:t> using private variables.</a:t>
            </a:r>
          </a:p>
          <a:p>
            <a:r>
              <a:rPr lang="en-US" dirty="0"/>
              <a:t>Understand </a:t>
            </a:r>
            <a:r>
              <a:rPr lang="en-US" b="1" dirty="0"/>
              <a:t>getter</a:t>
            </a:r>
            <a:r>
              <a:rPr lang="en-US" dirty="0"/>
              <a:t> and </a:t>
            </a:r>
            <a:r>
              <a:rPr lang="en-US" b="1" dirty="0"/>
              <a:t>setter</a:t>
            </a:r>
            <a:r>
              <a:rPr lang="en-US" dirty="0"/>
              <a:t> methods.</a:t>
            </a:r>
          </a:p>
          <a:p>
            <a:r>
              <a:rPr lang="en-US" dirty="0"/>
              <a:t>Learn how to use the </a:t>
            </a:r>
            <a:r>
              <a:rPr lang="en-US" dirty="0" err="1"/>
              <a:t>abc</a:t>
            </a:r>
            <a:r>
              <a:rPr lang="en-US" dirty="0"/>
              <a:t> (Abstract Base Class) module.</a:t>
            </a:r>
          </a:p>
          <a:p>
            <a:r>
              <a:rPr lang="en-US" dirty="0"/>
              <a:t>Implement a </a:t>
            </a:r>
            <a:r>
              <a:rPr lang="en-US" b="1" dirty="0"/>
              <a:t>Mini Project</a:t>
            </a:r>
            <a:r>
              <a:rPr lang="en-US" dirty="0"/>
              <a:t> using both concepts.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0010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0B52-33D8-7698-6B35-DF3552A78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Encapsulation – Data Hiding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18A6B-0C87-B02D-C1AF-D5E0F4A31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 means </a:t>
            </a:r>
            <a:r>
              <a:rPr lang="en-US" b="1" dirty="0"/>
              <a:t>binding data and methods</a:t>
            </a:r>
            <a:r>
              <a:rPr lang="en-US" dirty="0"/>
              <a:t> into a single unit (class)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/>
              <a:t>restricting direct access</a:t>
            </a:r>
            <a:r>
              <a:rPr lang="en-US" dirty="0"/>
              <a:t> to some variables.</a:t>
            </a:r>
          </a:p>
          <a:p>
            <a:r>
              <a:rPr lang="en-US" dirty="0"/>
              <a:t> Simply: “Keep your data safe — control how others use it.”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0604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F19FB-83B7-CC4C-1020-C4E3FDF7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4E72-870C-36D6-C0BE-801E18019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 are “Getter” and “Setter” methods in Python?</a:t>
            </a:r>
          </a:p>
          <a:p>
            <a:r>
              <a:rPr lang="en-US" dirty="0"/>
              <a:t> They are </a:t>
            </a:r>
            <a:r>
              <a:rPr lang="en-US" b="1" dirty="0"/>
              <a:t>special methods</a:t>
            </a:r>
            <a:r>
              <a:rPr lang="en-US" dirty="0"/>
              <a:t> used in </a:t>
            </a:r>
            <a:r>
              <a:rPr lang="en-US" b="1" dirty="0"/>
              <a:t>Encapsulation</a:t>
            </a:r>
            <a:br>
              <a:rPr lang="en-US" dirty="0"/>
            </a:br>
            <a:r>
              <a:rPr lang="en-US" dirty="0"/>
              <a:t>to </a:t>
            </a:r>
            <a:r>
              <a:rPr lang="en-US" b="1" dirty="0"/>
              <a:t>get (read)</a:t>
            </a:r>
            <a:r>
              <a:rPr lang="en-US" dirty="0"/>
              <a:t> and </a:t>
            </a:r>
            <a:r>
              <a:rPr lang="en-US" b="1" dirty="0"/>
              <a:t>set (update)</a:t>
            </a:r>
            <a:r>
              <a:rPr lang="en-US" dirty="0"/>
              <a:t> the values of </a:t>
            </a:r>
            <a:r>
              <a:rPr lang="en-US" i="1" dirty="0"/>
              <a:t>private variables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 Setter Method</a:t>
            </a:r>
          </a:p>
          <a:p>
            <a:r>
              <a:rPr lang="en-US" dirty="0"/>
              <a:t>Used to </a:t>
            </a:r>
            <a:r>
              <a:rPr lang="en-US" b="1" dirty="0"/>
              <a:t>set</a:t>
            </a:r>
            <a:r>
              <a:rPr lang="en-US" dirty="0"/>
              <a:t> or </a:t>
            </a:r>
            <a:r>
              <a:rPr lang="en-US" b="1" dirty="0"/>
              <a:t>change</a:t>
            </a:r>
            <a:r>
              <a:rPr lang="en-US" dirty="0"/>
              <a:t> the value of a private variable safely.</a:t>
            </a:r>
            <a:br>
              <a:rPr lang="en-US" dirty="0"/>
            </a:br>
            <a:r>
              <a:rPr lang="en-US" dirty="0"/>
              <a:t> Think of it as: </a:t>
            </a:r>
            <a:r>
              <a:rPr lang="en-US" i="1" dirty="0"/>
              <a:t>“set / update data”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Getter Method</a:t>
            </a:r>
          </a:p>
          <a:p>
            <a:r>
              <a:rPr lang="en-US" dirty="0"/>
              <a:t>Used to </a:t>
            </a:r>
            <a:r>
              <a:rPr lang="en-US" b="1" dirty="0"/>
              <a:t>get</a:t>
            </a:r>
            <a:r>
              <a:rPr lang="en-US" dirty="0"/>
              <a:t> or </a:t>
            </a:r>
            <a:r>
              <a:rPr lang="en-US" b="1" dirty="0"/>
              <a:t>read</a:t>
            </a:r>
            <a:r>
              <a:rPr lang="en-US" dirty="0"/>
              <a:t> the value of a private variable safely.</a:t>
            </a:r>
            <a:br>
              <a:rPr lang="en-US" dirty="0"/>
            </a:br>
            <a:r>
              <a:rPr lang="en-US" dirty="0"/>
              <a:t> Think of it as: </a:t>
            </a:r>
            <a:r>
              <a:rPr lang="en-US" i="1" dirty="0"/>
              <a:t>“get / view data”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8379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EDE4-4F35-806B-B03E-4B7015DC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 – Showing Only Necessary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D554-0389-3FD0-3E08-AD5E36127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Abstraction means </a:t>
            </a:r>
            <a:r>
              <a:rPr lang="en-US" b="1" dirty="0"/>
              <a:t>hiding complex implementation</a:t>
            </a:r>
            <a:r>
              <a:rPr lang="en-US" dirty="0"/>
              <a:t> and showing only what’s needed.</a:t>
            </a:r>
          </a:p>
          <a:p>
            <a:r>
              <a:rPr lang="en-US" dirty="0"/>
              <a:t> Example: When you drive a car,</a:t>
            </a:r>
            <a:br>
              <a:rPr lang="en-US" dirty="0"/>
            </a:br>
            <a:r>
              <a:rPr lang="en-US" dirty="0"/>
              <a:t>you just use the </a:t>
            </a:r>
            <a:r>
              <a:rPr lang="en-US" i="1" dirty="0"/>
              <a:t>steering, brake, accelerator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you don’t see how the engine works inside!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302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20EA3-43D6-E206-F96E-617B0A12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abc</a:t>
            </a:r>
            <a:r>
              <a:rPr lang="en-US" dirty="0"/>
              <a:t> import ABC, </a:t>
            </a:r>
            <a:r>
              <a:rPr lang="en-US" dirty="0" err="1"/>
              <a:t>abstractmethod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0501-EA81-8AA1-7C7A-C75F1F9AD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is </a:t>
            </a:r>
            <a:r>
              <a:rPr lang="en-US" b="1" dirty="0" err="1"/>
              <a:t>abc</a:t>
            </a:r>
            <a:r>
              <a:rPr lang="en-US" b="1" dirty="0"/>
              <a:t> in Python?</a:t>
            </a:r>
          </a:p>
          <a:p>
            <a:r>
              <a:rPr lang="en-US" dirty="0"/>
              <a:t> </a:t>
            </a:r>
            <a:r>
              <a:rPr lang="en-US" dirty="0" err="1"/>
              <a:t>abc</a:t>
            </a:r>
            <a:r>
              <a:rPr lang="en-US" dirty="0"/>
              <a:t> means </a:t>
            </a:r>
            <a:r>
              <a:rPr lang="en-US" b="1" dirty="0"/>
              <a:t>Abstract Base Class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it’s a built-in Python module that allows you to create </a:t>
            </a:r>
            <a:r>
              <a:rPr lang="en-US" b="1" dirty="0"/>
              <a:t>abstract classes</a:t>
            </a:r>
            <a:r>
              <a:rPr lang="en-US" dirty="0"/>
              <a:t>.</a:t>
            </a:r>
          </a:p>
          <a:p>
            <a:r>
              <a:rPr lang="en-US" dirty="0"/>
              <a:t> Abstract class = a class that </a:t>
            </a:r>
            <a:r>
              <a:rPr lang="en-US" b="1" dirty="0"/>
              <a:t>cannot be used directly</a:t>
            </a:r>
            <a:r>
              <a:rPr lang="en-US" dirty="0"/>
              <a:t> to create objects.</a:t>
            </a:r>
            <a:br>
              <a:rPr lang="en-US" dirty="0"/>
            </a:br>
            <a:r>
              <a:rPr lang="en-US" dirty="0"/>
              <a:t> It only provides a </a:t>
            </a:r>
            <a:r>
              <a:rPr lang="en-US" b="1" dirty="0"/>
              <a:t>structure / template</a:t>
            </a:r>
            <a:r>
              <a:rPr lang="en-US" dirty="0"/>
              <a:t> for other (child) classes.</a:t>
            </a:r>
          </a:p>
          <a:p>
            <a:pPr marL="0" indent="0">
              <a:buNone/>
            </a:pPr>
            <a:r>
              <a:rPr lang="en-US" b="1" dirty="0"/>
              <a:t>What is @abstractmethod?</a:t>
            </a:r>
          </a:p>
          <a:p>
            <a:r>
              <a:rPr lang="en-US" dirty="0"/>
              <a:t> @abstractmethod is a </a:t>
            </a:r>
            <a:r>
              <a:rPr lang="en-US" b="1" dirty="0"/>
              <a:t>decorator</a:t>
            </a:r>
            <a:r>
              <a:rPr lang="en-US" dirty="0"/>
              <a:t> (special keyword with @)</a:t>
            </a:r>
            <a:br>
              <a:rPr lang="en-US" dirty="0"/>
            </a:br>
            <a:r>
              <a:rPr lang="en-US" dirty="0"/>
              <a:t>used to </a:t>
            </a:r>
            <a:r>
              <a:rPr lang="en-US" b="1" dirty="0"/>
              <a:t>mark a method as abstract</a:t>
            </a:r>
            <a:r>
              <a:rPr lang="en-US" dirty="0"/>
              <a:t> — meaning:</a:t>
            </a:r>
          </a:p>
          <a:p>
            <a:r>
              <a:rPr lang="en-US" dirty="0"/>
              <a:t>"This method </a:t>
            </a:r>
            <a:r>
              <a:rPr lang="en-US" b="1" dirty="0"/>
              <a:t>must</a:t>
            </a:r>
            <a:r>
              <a:rPr lang="en-US" dirty="0"/>
              <a:t> be defined in the child class."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0056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A745-D47C-763C-FC2F-B7BDEB62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7BCA-B712-2FFB-BFA1-336829624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Mini Project – Bank System (Encapsulation + Abstraction)</a:t>
            </a:r>
          </a:p>
          <a:p>
            <a:pPr marL="0" indent="0">
              <a:buNone/>
            </a:pPr>
            <a:r>
              <a:rPr lang="en-IN" dirty="0"/>
              <a:t>Homework:-</a:t>
            </a:r>
          </a:p>
          <a:p>
            <a:pPr marL="0" indent="0">
              <a:buNone/>
            </a:pPr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Create an abstract class Vehicle with abstract method </a:t>
            </a:r>
            <a:r>
              <a:rPr lang="en-US" dirty="0" err="1"/>
              <a:t>fuel_efficiency</a:t>
            </a:r>
            <a:r>
              <a:rPr lang="en-US" dirty="0"/>
              <a:t>().</a:t>
            </a:r>
            <a:br>
              <a:rPr lang="en-US" dirty="0"/>
            </a:br>
            <a:r>
              <a:rPr lang="en-US" dirty="0"/>
              <a:t>Then create child classes:</a:t>
            </a:r>
          </a:p>
          <a:p>
            <a:r>
              <a:rPr lang="en-US" dirty="0"/>
              <a:t>Car → returns 15 km/l</a:t>
            </a:r>
          </a:p>
          <a:p>
            <a:r>
              <a:rPr lang="en-US" dirty="0"/>
              <a:t>Bike → returns 40 km/l</a:t>
            </a:r>
          </a:p>
          <a:p>
            <a:r>
              <a:rPr lang="en-US" dirty="0"/>
              <a:t>Ask user to choose vehicle type and display efficiency.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4221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728AC-1C8C-2C37-6597-A0BDBD45A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7 – File Handling in Python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1314B8-4E05-7BAD-FD39-885BE4D90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914553"/>
              </p:ext>
            </p:extLst>
          </p:nvPr>
        </p:nvGraphicFramePr>
        <p:xfrm>
          <a:off x="316523" y="1969477"/>
          <a:ext cx="11037276" cy="3311980"/>
        </p:xfrm>
        <a:graphic>
          <a:graphicData uri="http://schemas.openxmlformats.org/drawingml/2006/table">
            <a:tbl>
              <a:tblPr/>
              <a:tblGrid>
                <a:gridCol w="3679092">
                  <a:extLst>
                    <a:ext uri="{9D8B030D-6E8A-4147-A177-3AD203B41FA5}">
                      <a16:colId xmlns:a16="http://schemas.microsoft.com/office/drawing/2014/main" val="821499764"/>
                    </a:ext>
                  </a:extLst>
                </a:gridCol>
                <a:gridCol w="3679092">
                  <a:extLst>
                    <a:ext uri="{9D8B030D-6E8A-4147-A177-3AD203B41FA5}">
                      <a16:colId xmlns:a16="http://schemas.microsoft.com/office/drawing/2014/main" val="214722789"/>
                    </a:ext>
                  </a:extLst>
                </a:gridCol>
                <a:gridCol w="3679092">
                  <a:extLst>
                    <a:ext uri="{9D8B030D-6E8A-4147-A177-3AD203B41FA5}">
                      <a16:colId xmlns:a16="http://schemas.microsoft.com/office/drawing/2014/main" val="1982196406"/>
                    </a:ext>
                  </a:extLst>
                </a:gridCol>
              </a:tblGrid>
              <a:tr h="4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820295"/>
                  </a:ext>
                </a:extLst>
              </a:tr>
              <a:tr h="4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"r"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(default)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for reading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148869"/>
                  </a:ext>
                </a:extLst>
              </a:tr>
              <a:tr h="4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"w"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 (overwrites file)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for writing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052384"/>
                  </a:ext>
                </a:extLst>
              </a:tr>
              <a:tr h="4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"a"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Append (adds at end)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for appending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072938"/>
                  </a:ext>
                </a:extLst>
              </a:tr>
              <a:tr h="4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"r+"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and 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both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618791"/>
                  </a:ext>
                </a:extLst>
              </a:tr>
              <a:tr h="4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"w+"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 and 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creates new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893888"/>
                  </a:ext>
                </a:extLst>
              </a:tr>
              <a:tr h="4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"a+"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Append and 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 + add new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40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856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97E7-1EA3-D8F3-C00C-CB809E1C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A9438-6CC7-3CCC-3664-B1A36C27A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 = open("data.txt", "w")</a:t>
            </a:r>
          </a:p>
          <a:p>
            <a:pPr marL="0" indent="0">
              <a:buNone/>
            </a:pPr>
            <a:r>
              <a:rPr lang="en-IN" dirty="0" err="1"/>
              <a:t>f.write</a:t>
            </a:r>
            <a:r>
              <a:rPr lang="en-IN" dirty="0"/>
              <a:t>("Hello students!\n")</a:t>
            </a:r>
          </a:p>
          <a:p>
            <a:pPr marL="0" indent="0">
              <a:buNone/>
            </a:pPr>
            <a:r>
              <a:rPr lang="en-IN" dirty="0" err="1"/>
              <a:t>f.write</a:t>
            </a:r>
            <a:r>
              <a:rPr lang="en-IN" dirty="0"/>
              <a:t>("Welcome to Python File Handling.")</a:t>
            </a:r>
          </a:p>
          <a:p>
            <a:pPr marL="0" indent="0">
              <a:buNone/>
            </a:pPr>
            <a:r>
              <a:rPr lang="en-IN" dirty="0" err="1"/>
              <a:t>f.close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print("Data written successfully.")</a:t>
            </a:r>
          </a:p>
        </p:txBody>
      </p:sp>
    </p:spTree>
    <p:extLst>
      <p:ext uri="{BB962C8B-B14F-4D97-AF65-F5344CB8AC3E}">
        <p14:creationId xmlns:p14="http://schemas.microsoft.com/office/powerpoint/2010/main" val="41839166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EFA7-89EA-86F8-EE5B-B1ABBF05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55DD6-5EAB-0665-FEAC-23722CCEC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 Project – Student Record Saver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994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E10F-6149-9AC6-05A8-D8806E64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8 (Final Session)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5283F-09E0-C0DB-D7B3-6C27C00DB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Part 1 – Generators</a:t>
            </a:r>
          </a:p>
          <a:p>
            <a:pPr marL="0" indent="0">
              <a:buNone/>
            </a:pPr>
            <a:r>
              <a:rPr lang="en-US" b="1" dirty="0"/>
              <a:t> What is a Generator?</a:t>
            </a:r>
          </a:p>
          <a:p>
            <a:r>
              <a:rPr lang="en-US" dirty="0"/>
              <a:t>A </a:t>
            </a:r>
            <a:r>
              <a:rPr lang="en-US" b="1" dirty="0"/>
              <a:t>Generator</a:t>
            </a:r>
            <a:r>
              <a:rPr lang="en-US" dirty="0"/>
              <a:t> is a special function that returns values </a:t>
            </a:r>
            <a:r>
              <a:rPr lang="en-US" b="1" dirty="0"/>
              <a:t>one at a time</a:t>
            </a:r>
            <a:r>
              <a:rPr lang="en-US" dirty="0"/>
              <a:t> using yield instead of return.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Normal function return use </a:t>
            </a:r>
            <a:r>
              <a:rPr lang="en-US" dirty="0" err="1"/>
              <a:t>cheyyum</a:t>
            </a:r>
            <a:r>
              <a:rPr lang="en-US" dirty="0"/>
              <a:t> – once only.</a:t>
            </a:r>
            <a:br>
              <a:rPr lang="en-US" dirty="0"/>
            </a:br>
            <a:r>
              <a:rPr lang="en-US" dirty="0"/>
              <a:t>Generator yield use </a:t>
            </a:r>
            <a:r>
              <a:rPr lang="en-US" dirty="0" err="1"/>
              <a:t>cheyyum</a:t>
            </a:r>
            <a:r>
              <a:rPr lang="en-US" dirty="0"/>
              <a:t> – multiple times without losing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0372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01D7-1382-DDFB-C7D0-EB41522F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01200-9C45-6EAE-DE86-C5A0C55A6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Part 2 – String Pattern Matching (Regular Expressions)</a:t>
            </a:r>
          </a:p>
          <a:p>
            <a:pPr marL="0" indent="0">
              <a:buNone/>
            </a:pPr>
            <a:r>
              <a:rPr lang="en-US" b="1" dirty="0"/>
              <a:t> What is Regular Expression (</a:t>
            </a:r>
            <a:r>
              <a:rPr lang="en-US" b="1" dirty="0" err="1"/>
              <a:t>RegEx</a:t>
            </a:r>
            <a:r>
              <a:rPr lang="en-US" b="1" dirty="0"/>
              <a:t>)?</a:t>
            </a:r>
          </a:p>
          <a:p>
            <a:r>
              <a:rPr lang="en-US" dirty="0"/>
              <a:t>A </a:t>
            </a:r>
            <a:r>
              <a:rPr lang="en-US" b="1" dirty="0" err="1"/>
              <a:t>RegEx</a:t>
            </a:r>
            <a:r>
              <a:rPr lang="en-US" dirty="0"/>
              <a:t> is a pattern used to match or find strings.</a:t>
            </a:r>
          </a:p>
          <a:p>
            <a:r>
              <a:rPr lang="en-US" dirty="0"/>
              <a:t>You need the </a:t>
            </a:r>
            <a:r>
              <a:rPr lang="en-US" b="1" dirty="0"/>
              <a:t>re module</a:t>
            </a:r>
            <a:r>
              <a:rPr lang="en-US" dirty="0"/>
              <a:t> in Python.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(import 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0455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2F09B7-3517-0626-F638-D7ACBEA2D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341317"/>
              </p:ext>
            </p:extLst>
          </p:nvPr>
        </p:nvGraphicFramePr>
        <p:xfrm>
          <a:off x="369277" y="2066192"/>
          <a:ext cx="10984524" cy="2849500"/>
        </p:xfrm>
        <a:graphic>
          <a:graphicData uri="http://schemas.openxmlformats.org/drawingml/2006/table">
            <a:tbl>
              <a:tblPr/>
              <a:tblGrid>
                <a:gridCol w="5492262">
                  <a:extLst>
                    <a:ext uri="{9D8B030D-6E8A-4147-A177-3AD203B41FA5}">
                      <a16:colId xmlns:a16="http://schemas.microsoft.com/office/drawing/2014/main" val="749006892"/>
                    </a:ext>
                  </a:extLst>
                </a:gridCol>
                <a:gridCol w="5492262">
                  <a:extLst>
                    <a:ext uri="{9D8B030D-6E8A-4147-A177-3AD203B41FA5}">
                      <a16:colId xmlns:a16="http://schemas.microsoft.com/office/drawing/2014/main" val="2596274078"/>
                    </a:ext>
                  </a:extLst>
                </a:gridCol>
              </a:tblGrid>
              <a:tr h="56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14208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re.match()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Matches pattern only at beginning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238523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re.search()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Searches pattern anywhere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946250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re.findall()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Returns all matches as a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657135"/>
                  </a:ext>
                </a:extLst>
              </a:tr>
              <a:tr h="569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re.sub()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Replaces pattern with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431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7560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737C-74F5-0B3A-4E4E-79E5C13D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CAD75-39CE-9722-53DC-8ED1DD0B8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Mini Project: User Registration System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The next(gen) call</a:t>
            </a:r>
          </a:p>
          <a:p>
            <a:pPr marL="0" indent="0">
              <a:buNone/>
            </a:pPr>
            <a:r>
              <a:rPr lang="en-US" dirty="0"/>
              <a:t>next(gen) means:</a:t>
            </a:r>
          </a:p>
          <a:p>
            <a:pPr marL="0" indent="0">
              <a:buNone/>
            </a:pPr>
            <a:r>
              <a:rPr lang="en-US" dirty="0"/>
              <a:t>“Ask the generator gen to give me the </a:t>
            </a:r>
            <a:r>
              <a:rPr lang="en-US" b="1" dirty="0"/>
              <a:t>next value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dirty="0"/>
              <a:t>Each time you call it, it gives a new value from the generator sequence.</a:t>
            </a:r>
          </a:p>
          <a:p>
            <a:r>
              <a:rPr lang="en-IN" dirty="0"/>
              <a:t>print(next(gen))  # USER001</a:t>
            </a:r>
          </a:p>
          <a:p>
            <a:r>
              <a:rPr lang="en-IN" dirty="0"/>
              <a:t>print(next(gen))  # USER002</a:t>
            </a:r>
          </a:p>
          <a:p>
            <a:r>
              <a:rPr lang="en-IN" dirty="0"/>
              <a:t>print(next(gen))  # USER003</a:t>
            </a:r>
          </a:p>
        </p:txBody>
      </p:sp>
    </p:spTree>
    <p:extLst>
      <p:ext uri="{BB962C8B-B14F-4D97-AF65-F5344CB8AC3E}">
        <p14:creationId xmlns:p14="http://schemas.microsoft.com/office/powerpoint/2010/main" val="23617990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EE6A69-92E4-789C-0841-EF5A810559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455373"/>
              </p:ext>
            </p:extLst>
          </p:nvPr>
        </p:nvGraphicFramePr>
        <p:xfrm>
          <a:off x="615462" y="580292"/>
          <a:ext cx="9452000" cy="5652045"/>
        </p:xfrm>
        <a:graphic>
          <a:graphicData uri="http://schemas.openxmlformats.org/drawingml/2006/table">
            <a:tbl>
              <a:tblPr/>
              <a:tblGrid>
                <a:gridCol w="2363000">
                  <a:extLst>
                    <a:ext uri="{9D8B030D-6E8A-4147-A177-3AD203B41FA5}">
                      <a16:colId xmlns:a16="http://schemas.microsoft.com/office/drawing/2014/main" val="3479594278"/>
                    </a:ext>
                  </a:extLst>
                </a:gridCol>
                <a:gridCol w="2363000">
                  <a:extLst>
                    <a:ext uri="{9D8B030D-6E8A-4147-A177-3AD203B41FA5}">
                      <a16:colId xmlns:a16="http://schemas.microsoft.com/office/drawing/2014/main" val="3857379508"/>
                    </a:ext>
                  </a:extLst>
                </a:gridCol>
                <a:gridCol w="2363000">
                  <a:extLst>
                    <a:ext uri="{9D8B030D-6E8A-4147-A177-3AD203B41FA5}">
                      <a16:colId xmlns:a16="http://schemas.microsoft.com/office/drawing/2014/main" val="3867989644"/>
                    </a:ext>
                  </a:extLst>
                </a:gridCol>
                <a:gridCol w="2363000">
                  <a:extLst>
                    <a:ext uri="{9D8B030D-6E8A-4147-A177-3AD203B41FA5}">
                      <a16:colId xmlns:a16="http://schemas.microsoft.com/office/drawing/2014/main" val="3964539046"/>
                    </a:ext>
                  </a:extLst>
                </a:gridCol>
              </a:tblGrid>
              <a:tr h="357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Session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Topic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Status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Highlights / Projects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845047"/>
                  </a:ext>
                </a:extLst>
              </a:tr>
              <a:tr h="6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Classes &amp; Objects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en-IN" sz="1400"/>
                        <a:t>,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en-IN" sz="1400"/>
                        <a:t>, object creation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536287"/>
                  </a:ext>
                </a:extLst>
              </a:tr>
              <a:tr h="6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Instance &amp; Class Variables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Class vs object data + HW Project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263113"/>
                  </a:ext>
                </a:extLst>
              </a:tr>
              <a:tr h="6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Scope &amp; Namespace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LEGB Rule,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locals()</a:t>
                      </a:r>
                      <a:r>
                        <a:rPr lang="en-IN" sz="1400"/>
                        <a:t>,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globals()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498415"/>
                  </a:ext>
                </a:extLst>
              </a:tr>
              <a:tr h="6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Inheritance</a:t>
                      </a:r>
                      <a:endParaRPr lang="en-IN" sz="1400" dirty="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super()</a:t>
                      </a:r>
                      <a:r>
                        <a:rPr lang="en-IN" sz="1400"/>
                        <a:t>, single, multi-level, hybrid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267824"/>
                  </a:ext>
                </a:extLst>
              </a:tr>
              <a:tr h="6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Polymorphism &amp; Method Overriding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Common interface, overriding examples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296886"/>
                  </a:ext>
                </a:extLst>
              </a:tr>
              <a:tr h="6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Encapsulation &amp; Abstraction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Private variables, abstract classes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766466"/>
                  </a:ext>
                </a:extLst>
              </a:tr>
              <a:tr h="62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7️⃣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File Handling</a:t>
                      </a:r>
                      <a:endParaRPr lang="en-IN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Read, write, append, delete file project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314045"/>
                  </a:ext>
                </a:extLst>
              </a:tr>
              <a:tr h="898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8️⃣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Generators + String Pattern Matching + Conclusion</a:t>
                      </a:r>
                      <a:endParaRPr lang="en-US" sz="140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 Done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yield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re</a:t>
                      </a:r>
                      <a:r>
                        <a:rPr lang="en-US" sz="1400" dirty="0"/>
                        <a:t> module, user registration mini project</a:t>
                      </a:r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332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4610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10155A-8981-301A-5855-B46797CFCA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1270027"/>
              </p:ext>
            </p:extLst>
          </p:nvPr>
        </p:nvGraphicFramePr>
        <p:xfrm>
          <a:off x="492369" y="1688123"/>
          <a:ext cx="10861431" cy="3410454"/>
        </p:xfrm>
        <a:graphic>
          <a:graphicData uri="http://schemas.openxmlformats.org/drawingml/2006/table">
            <a:tbl>
              <a:tblPr/>
              <a:tblGrid>
                <a:gridCol w="3620477">
                  <a:extLst>
                    <a:ext uri="{9D8B030D-6E8A-4147-A177-3AD203B41FA5}">
                      <a16:colId xmlns:a16="http://schemas.microsoft.com/office/drawing/2014/main" val="1780265503"/>
                    </a:ext>
                  </a:extLst>
                </a:gridCol>
                <a:gridCol w="3620477">
                  <a:extLst>
                    <a:ext uri="{9D8B030D-6E8A-4147-A177-3AD203B41FA5}">
                      <a16:colId xmlns:a16="http://schemas.microsoft.com/office/drawing/2014/main" val="411882218"/>
                    </a:ext>
                  </a:extLst>
                </a:gridCol>
                <a:gridCol w="3620477">
                  <a:extLst>
                    <a:ext uri="{9D8B030D-6E8A-4147-A177-3AD203B41FA5}">
                      <a16:colId xmlns:a16="http://schemas.microsoft.com/office/drawing/2014/main" val="3815713783"/>
                    </a:ext>
                  </a:extLst>
                </a:gridCol>
              </a:tblGrid>
              <a:tr h="568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334783"/>
                  </a:ext>
                </a:extLst>
              </a:tr>
              <a:tr h="568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🏦 Bank Account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Deposit, withdraw, balance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Classes,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990372"/>
                  </a:ext>
                </a:extLst>
              </a:tr>
              <a:tr h="568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📚 Book Info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&amp; display book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Instance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46639"/>
                  </a:ext>
                </a:extLst>
              </a:tr>
              <a:tr h="568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👨‍🎓 Student Info Tracker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Namespaces, global/local 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Scope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052006"/>
                  </a:ext>
                </a:extLst>
              </a:tr>
              <a:tr h="568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🧾 Employee Pay Calculator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Inheritance &amp; overriding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super()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843923"/>
                  </a:ext>
                </a:extLst>
              </a:tr>
              <a:tr h="568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🧍‍♂️ User Registration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 &amp; File saving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Regex, File handling, Generators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091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070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</TotalTime>
  <Words>3533</Words>
  <Application>Microsoft Office PowerPoint</Application>
  <PresentationFormat>Widescreen</PresentationFormat>
  <Paragraphs>536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Calibri Light</vt:lpstr>
      <vt:lpstr>Courier New</vt:lpstr>
      <vt:lpstr>Office Theme</vt:lpstr>
      <vt:lpstr>📦 Module 2 Topics (From Syllabus) </vt:lpstr>
      <vt:lpstr>Session 1 – Introduction to Classes &amp;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Concept Notes</vt:lpstr>
      <vt:lpstr>PowerPoint Presentation</vt:lpstr>
      <vt:lpstr>PowerPoint Presentation</vt:lpstr>
      <vt:lpstr>Session 3 – Namespaces &amp; Scope + Object References </vt:lpstr>
      <vt:lpstr>Concept Notes</vt:lpstr>
      <vt:lpstr>PowerPoint Presentation</vt:lpstr>
      <vt:lpstr>Types of Namespaces </vt:lpstr>
      <vt:lpstr>PowerPoint Presentation</vt:lpstr>
      <vt:lpstr>What is Scope? </vt:lpstr>
      <vt:lpstr>What is a Reference?</vt:lpstr>
      <vt:lpstr>LEGB Rule: </vt:lpstr>
      <vt:lpstr>What is LEGB Rule?</vt:lpstr>
      <vt:lpstr>PowerPoint Presentation</vt:lpstr>
      <vt:lpstr>PowerPoint Presentation</vt:lpstr>
      <vt:lpstr>PowerPoint Presentation</vt:lpstr>
      <vt:lpstr>PowerPoint Presentation</vt:lpstr>
      <vt:lpstr>Session 4 – Inheritance in Python</vt:lpstr>
      <vt:lpstr>Concept: What is Inheritance?</vt:lpstr>
      <vt:lpstr>Why Use Inheritance?</vt:lpstr>
      <vt:lpstr>Types of Inheritance in Python</vt:lpstr>
      <vt:lpstr>PowerPoint Presentation</vt:lpstr>
      <vt:lpstr>PowerPoint Presentation</vt:lpstr>
      <vt:lpstr>Mini Project – Employee Payroll System (Inheritance)</vt:lpstr>
      <vt:lpstr>Homework </vt:lpstr>
      <vt:lpstr>Session 5 – Polymorphism &amp; Method Overriding</vt:lpstr>
      <vt:lpstr>What is Polymorphism?</vt:lpstr>
      <vt:lpstr>Types of Polymorphism</vt:lpstr>
      <vt:lpstr>Method Overriding</vt:lpstr>
      <vt:lpstr>Mini Project – Shape Area Calculator</vt:lpstr>
      <vt:lpstr>Homework</vt:lpstr>
      <vt:lpstr>PowerPoint Presentation</vt:lpstr>
      <vt:lpstr>Session 6 – Encapsulation &amp; Abstraction</vt:lpstr>
      <vt:lpstr>Encapsulation – Data Hiding</vt:lpstr>
      <vt:lpstr>PowerPoint Presentation</vt:lpstr>
      <vt:lpstr>Abstraction – Showing Only Necessary Details</vt:lpstr>
      <vt:lpstr>from abc import ABC, abstractmethod</vt:lpstr>
      <vt:lpstr>PowerPoint Presentation</vt:lpstr>
      <vt:lpstr>Session 7 – File Handling in Python</vt:lpstr>
      <vt:lpstr>PowerPoint Presentation</vt:lpstr>
      <vt:lpstr>PowerPoint Presentation</vt:lpstr>
      <vt:lpstr>SESSION 8 (Final Session)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pvt</dc:creator>
  <cp:lastModifiedBy>anas pvt</cp:lastModifiedBy>
  <cp:revision>4</cp:revision>
  <dcterms:created xsi:type="dcterms:W3CDTF">2025-10-28T13:50:24Z</dcterms:created>
  <dcterms:modified xsi:type="dcterms:W3CDTF">2025-10-31T13:11:16Z</dcterms:modified>
</cp:coreProperties>
</file>